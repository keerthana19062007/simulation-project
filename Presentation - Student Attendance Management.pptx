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x="18288000" cy="10287000"/>
  <p:notesSz cx="6858000" cy="9144000"/>
  <p:embeddedFontLst>
    <p:embeddedFont>
      <p:font typeface="TT Interphases" charset="1" panose="02000503020000020004"/>
      <p:regular r:id="rId17"/>
    </p:embeddedFont>
    <p:embeddedFont>
      <p:font typeface="Cooper BT Light" charset="1" panose="0208050304030B020404"/>
      <p:regular r:id="rId18"/>
    </p:embeddedFont>
    <p:embeddedFont>
      <p:font typeface="TT Interphases Bold" charset="1" panose="02000803060000020004"/>
      <p:regular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Relationship Id="rId3" Target="../media/image5.jpeg" Type="http://schemas.openxmlformats.org/officeDocument/2006/relationships/image"/><Relationship Id="rId4" Target="../media/image6.png" Type="http://schemas.openxmlformats.org/officeDocument/2006/relationships/image"/><Relationship Id="rId5" Target="../media/image7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9.png" Type="http://schemas.openxmlformats.org/officeDocument/2006/relationships/image"/><Relationship Id="rId4" Target="../media/image10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jpeg" Type="http://schemas.openxmlformats.org/officeDocument/2006/relationships/image"/><Relationship Id="rId3" Target="../media/image6.png" Type="http://schemas.openxmlformats.org/officeDocument/2006/relationships/image"/><Relationship Id="rId4" Target="../media/image7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8267700" cy="10287000"/>
            <a:chOff x="0" y="0"/>
            <a:chExt cx="2177501" cy="27093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77501" cy="2709333"/>
            </a:xfrm>
            <a:custGeom>
              <a:avLst/>
              <a:gdLst/>
              <a:ahLst/>
              <a:cxnLst/>
              <a:rect r="r" b="b" t="t" l="l"/>
              <a:pathLst>
                <a:path h="2709333" w="2177501">
                  <a:moveTo>
                    <a:pt x="0" y="0"/>
                  </a:moveTo>
                  <a:lnTo>
                    <a:pt x="2177501" y="0"/>
                  </a:lnTo>
                  <a:lnTo>
                    <a:pt x="2177501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E9456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2177501" cy="27379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0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296400" y="666750"/>
            <a:ext cx="8324850" cy="5583610"/>
            <a:chOff x="0" y="0"/>
            <a:chExt cx="11099800" cy="7444813"/>
          </a:xfrm>
        </p:grpSpPr>
        <p:sp>
          <p:nvSpPr>
            <p:cNvPr name="TextBox 6" id="6"/>
            <p:cNvSpPr txBox="true"/>
            <p:nvPr/>
          </p:nvSpPr>
          <p:spPr>
            <a:xfrm rot="0">
              <a:off x="0" y="6680272"/>
              <a:ext cx="11099800" cy="76454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4679"/>
                </a:lnSpc>
              </a:pPr>
              <a:r>
                <a:rPr lang="en-US" sz="3599" spc="-71">
                  <a:solidFill>
                    <a:srgbClr val="FFFFFF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Using Bit Manipulation in C++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0" y="219075"/>
              <a:ext cx="11099800" cy="599969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11499"/>
                </a:lnSpc>
              </a:pPr>
              <a:r>
                <a:rPr lang="en-US" sz="11499" spc="-229">
                  <a:solidFill>
                    <a:srgbClr val="FFFFFF"/>
                  </a:solidFill>
                  <a:latin typeface="Cooper BT Light"/>
                  <a:ea typeface="Cooper BT Light"/>
                  <a:cs typeface="Cooper BT Light"/>
                  <a:sym typeface="Cooper BT Light"/>
                </a:rPr>
                <a:t>Student Attendance Management</a:t>
              </a: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8760583" y="6726138"/>
            <a:ext cx="8324850" cy="31838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640"/>
              </a:lnSpc>
            </a:pPr>
            <a:r>
              <a:rPr lang="en-US" b="true" sz="2800">
                <a:solidFill>
                  <a:srgbClr val="FFFFFF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Presented by</a:t>
            </a:r>
          </a:p>
          <a:p>
            <a:pPr algn="l" marL="0" indent="0" lvl="0">
              <a:lnSpc>
                <a:spcPts val="3640"/>
              </a:lnSpc>
            </a:pPr>
            <a:r>
              <a:rPr lang="en-US" b="true" sz="2800">
                <a:solidFill>
                  <a:srgbClr val="FFFFFF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Gowmika             AP24110010527</a:t>
            </a:r>
          </a:p>
          <a:p>
            <a:pPr algn="l" marL="0" indent="0" lvl="0">
              <a:lnSpc>
                <a:spcPts val="3640"/>
              </a:lnSpc>
            </a:pPr>
            <a:r>
              <a:rPr lang="en-US" b="true" sz="2800">
                <a:solidFill>
                  <a:srgbClr val="FFFFFF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Hamsavalli          AP24110010516</a:t>
            </a:r>
          </a:p>
          <a:p>
            <a:pPr algn="l" marL="0" indent="0" lvl="0">
              <a:lnSpc>
                <a:spcPts val="3640"/>
              </a:lnSpc>
            </a:pPr>
            <a:r>
              <a:rPr lang="en-US" b="true" sz="2800">
                <a:solidFill>
                  <a:srgbClr val="FFFFFF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Keerthana           AP24110010298</a:t>
            </a:r>
          </a:p>
          <a:p>
            <a:pPr algn="l" marL="0" indent="0" lvl="0">
              <a:lnSpc>
                <a:spcPts val="3640"/>
              </a:lnSpc>
            </a:pPr>
            <a:r>
              <a:rPr lang="en-US" b="true" sz="2800">
                <a:solidFill>
                  <a:srgbClr val="FFFFFF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Madhulika           AP24110010302</a:t>
            </a:r>
          </a:p>
          <a:p>
            <a:pPr algn="l" marL="0" indent="0" lvl="0">
              <a:lnSpc>
                <a:spcPts val="3640"/>
              </a:lnSpc>
            </a:pPr>
            <a:r>
              <a:rPr lang="en-US" b="true" sz="2800">
                <a:solidFill>
                  <a:srgbClr val="FFFFFF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Jasmitha             AP24110010299</a:t>
            </a:r>
          </a:p>
          <a:p>
            <a:pPr algn="l" marL="0" indent="0" lvl="0">
              <a:lnSpc>
                <a:spcPts val="3640"/>
              </a:lnSpc>
            </a:pPr>
            <a:r>
              <a:rPr lang="en-US" b="true" sz="2800">
                <a:solidFill>
                  <a:srgbClr val="FFFFFF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Likhitha               AP24110010308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666750" y="666750"/>
            <a:ext cx="6886575" cy="8953500"/>
            <a:chOff x="0" y="0"/>
            <a:chExt cx="812800" cy="1056752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1056752"/>
            </a:xfrm>
            <a:custGeom>
              <a:avLst/>
              <a:gdLst/>
              <a:ahLst/>
              <a:cxnLst/>
              <a:rect r="r" b="b" t="t" l="l"/>
              <a:pathLst>
                <a:path h="1056752" w="812800">
                  <a:moveTo>
                    <a:pt x="44968" y="0"/>
                  </a:moveTo>
                  <a:lnTo>
                    <a:pt x="767832" y="0"/>
                  </a:lnTo>
                  <a:cubicBezTo>
                    <a:pt x="779758" y="0"/>
                    <a:pt x="791196" y="4738"/>
                    <a:pt x="799629" y="13171"/>
                  </a:cubicBezTo>
                  <a:cubicBezTo>
                    <a:pt x="808062" y="21604"/>
                    <a:pt x="812800" y="33042"/>
                    <a:pt x="812800" y="44968"/>
                  </a:cubicBezTo>
                  <a:lnTo>
                    <a:pt x="812800" y="1011784"/>
                  </a:lnTo>
                  <a:cubicBezTo>
                    <a:pt x="812800" y="1023711"/>
                    <a:pt x="808062" y="1035148"/>
                    <a:pt x="799629" y="1043582"/>
                  </a:cubicBezTo>
                  <a:cubicBezTo>
                    <a:pt x="791196" y="1052015"/>
                    <a:pt x="779758" y="1056752"/>
                    <a:pt x="767832" y="1056752"/>
                  </a:cubicBezTo>
                  <a:lnTo>
                    <a:pt x="44968" y="1056752"/>
                  </a:lnTo>
                  <a:cubicBezTo>
                    <a:pt x="33042" y="1056752"/>
                    <a:pt x="21604" y="1052015"/>
                    <a:pt x="13171" y="1043582"/>
                  </a:cubicBezTo>
                  <a:cubicBezTo>
                    <a:pt x="4738" y="1035148"/>
                    <a:pt x="0" y="1023711"/>
                    <a:pt x="0" y="1011784"/>
                  </a:cubicBezTo>
                  <a:lnTo>
                    <a:pt x="0" y="44968"/>
                  </a:lnTo>
                  <a:cubicBezTo>
                    <a:pt x="0" y="33042"/>
                    <a:pt x="4738" y="21604"/>
                    <a:pt x="13171" y="13171"/>
                  </a:cubicBezTo>
                  <a:cubicBezTo>
                    <a:pt x="21604" y="4738"/>
                    <a:pt x="33042" y="0"/>
                    <a:pt x="44968" y="0"/>
                  </a:cubicBezTo>
                  <a:close/>
                </a:path>
              </a:pathLst>
            </a:custGeom>
            <a:blipFill>
              <a:blip r:embed="rId2"/>
              <a:stretch>
                <a:fillRect l="0" t="-271" r="0" b="-271"/>
              </a:stretch>
            </a:blipFill>
          </p:spPr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621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66750" y="338566"/>
            <a:ext cx="14879850" cy="5949273"/>
            <a:chOff x="0" y="0"/>
            <a:chExt cx="19839800" cy="7932364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180080" y="5974353"/>
              <a:ext cx="19659720" cy="195801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974"/>
                </a:lnSpc>
              </a:pPr>
              <a:r>
                <a:rPr lang="en-US" sz="3056" spc="-61" strike="noStrike" u="none">
                  <a:solidFill>
                    <a:srgbClr val="FFFFFF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This section introduces the </a:t>
              </a:r>
              <a:r>
                <a:rPr lang="en-US" b="true" sz="3056" spc="-61" strike="noStrike" u="none">
                  <a:solidFill>
                    <a:srgbClr val="FFFFFF"/>
                  </a:solidFill>
                  <a:latin typeface="TT Interphases Bold"/>
                  <a:ea typeface="TT Interphases Bold"/>
                  <a:cs typeface="TT Interphases Bold"/>
                  <a:sym typeface="TT Interphases Bold"/>
                </a:rPr>
                <a:t>attendance management program</a:t>
              </a:r>
              <a:r>
                <a:rPr lang="en-US" sz="3056" spc="-61" strike="noStrike" u="none">
                  <a:solidFill>
                    <a:srgbClr val="FFFFFF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, emphasizing the importance of efficient student attendance tracking using bit manipulation for compact storage and quick access to attendance data.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0" y="190500"/>
              <a:ext cx="13017500" cy="347133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9874"/>
                </a:lnSpc>
                <a:spcBef>
                  <a:spcPct val="0"/>
                </a:spcBef>
              </a:pPr>
              <a:r>
                <a:rPr lang="en-US" sz="9874" spc="-197" strike="noStrike" u="none">
                  <a:solidFill>
                    <a:srgbClr val="FFFFFF"/>
                  </a:solidFill>
                  <a:latin typeface="Cooper BT Light"/>
                  <a:ea typeface="Cooper BT Light"/>
                  <a:cs typeface="Cooper BT Light"/>
                  <a:sym typeface="Cooper BT Light"/>
                </a:rPr>
                <a:t>Introduction and Overview</a:t>
              </a: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5428144" y="6607510"/>
            <a:ext cx="3459016" cy="4461104"/>
          </a:xfrm>
          <a:custGeom>
            <a:avLst/>
            <a:gdLst/>
            <a:ahLst/>
            <a:cxnLst/>
            <a:rect r="r" b="b" t="t" l="l"/>
            <a:pathLst>
              <a:path h="4461104" w="3459016">
                <a:moveTo>
                  <a:pt x="0" y="0"/>
                </a:moveTo>
                <a:lnTo>
                  <a:pt x="3459015" y="0"/>
                </a:lnTo>
                <a:lnTo>
                  <a:pt x="3459015" y="4461105"/>
                </a:lnTo>
                <a:lnTo>
                  <a:pt x="0" y="446110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F346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8267700" cy="10287000"/>
            <a:chOff x="0" y="0"/>
            <a:chExt cx="2177501" cy="27093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77501" cy="2709333"/>
            </a:xfrm>
            <a:custGeom>
              <a:avLst/>
              <a:gdLst/>
              <a:ahLst/>
              <a:cxnLst/>
              <a:rect r="r" b="b" t="t" l="l"/>
              <a:pathLst>
                <a:path h="2709333" w="2177501">
                  <a:moveTo>
                    <a:pt x="0" y="0"/>
                  </a:moveTo>
                  <a:lnTo>
                    <a:pt x="2177501" y="0"/>
                  </a:lnTo>
                  <a:lnTo>
                    <a:pt x="2177501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E9456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2177501" cy="27379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0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666750" y="5524049"/>
            <a:ext cx="6886575" cy="4096201"/>
            <a:chOff x="0" y="0"/>
            <a:chExt cx="1366488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366488" cy="812800"/>
            </a:xfrm>
            <a:custGeom>
              <a:avLst/>
              <a:gdLst/>
              <a:ahLst/>
              <a:cxnLst/>
              <a:rect r="r" b="b" t="t" l="l"/>
              <a:pathLst>
                <a:path h="812800" w="1366488">
                  <a:moveTo>
                    <a:pt x="44968" y="0"/>
                  </a:moveTo>
                  <a:lnTo>
                    <a:pt x="1321519" y="0"/>
                  </a:lnTo>
                  <a:cubicBezTo>
                    <a:pt x="1333446" y="0"/>
                    <a:pt x="1344884" y="4738"/>
                    <a:pt x="1353317" y="13171"/>
                  </a:cubicBezTo>
                  <a:cubicBezTo>
                    <a:pt x="1361750" y="21604"/>
                    <a:pt x="1366488" y="33042"/>
                    <a:pt x="1366488" y="44968"/>
                  </a:cubicBezTo>
                  <a:lnTo>
                    <a:pt x="1366488" y="767832"/>
                  </a:lnTo>
                  <a:cubicBezTo>
                    <a:pt x="1366488" y="779758"/>
                    <a:pt x="1361750" y="791196"/>
                    <a:pt x="1353317" y="799629"/>
                  </a:cubicBezTo>
                  <a:cubicBezTo>
                    <a:pt x="1344884" y="808062"/>
                    <a:pt x="1333446" y="812800"/>
                    <a:pt x="1321519" y="812800"/>
                  </a:cubicBezTo>
                  <a:lnTo>
                    <a:pt x="44968" y="812800"/>
                  </a:lnTo>
                  <a:cubicBezTo>
                    <a:pt x="33042" y="812800"/>
                    <a:pt x="21604" y="808062"/>
                    <a:pt x="13171" y="799629"/>
                  </a:cubicBezTo>
                  <a:cubicBezTo>
                    <a:pt x="4738" y="791196"/>
                    <a:pt x="0" y="779758"/>
                    <a:pt x="0" y="767832"/>
                  </a:cubicBezTo>
                  <a:lnTo>
                    <a:pt x="0" y="44968"/>
                  </a:lnTo>
                  <a:cubicBezTo>
                    <a:pt x="0" y="33042"/>
                    <a:pt x="4738" y="21604"/>
                    <a:pt x="13171" y="13171"/>
                  </a:cubicBezTo>
                  <a:cubicBezTo>
                    <a:pt x="21604" y="4738"/>
                    <a:pt x="33042" y="0"/>
                    <a:pt x="44968" y="0"/>
                  </a:cubicBezTo>
                  <a:close/>
                </a:path>
              </a:pathLst>
            </a:custGeom>
            <a:blipFill>
              <a:blip r:embed="rId2"/>
              <a:stretch>
                <a:fillRect l="-89" t="0" r="-89" b="0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666750" y="666750"/>
            <a:ext cx="6886575" cy="4094128"/>
            <a:chOff x="0" y="0"/>
            <a:chExt cx="1367180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367180" cy="812800"/>
            </a:xfrm>
            <a:custGeom>
              <a:avLst/>
              <a:gdLst/>
              <a:ahLst/>
              <a:cxnLst/>
              <a:rect r="r" b="b" t="t" l="l"/>
              <a:pathLst>
                <a:path h="812800" w="1367180">
                  <a:moveTo>
                    <a:pt x="44968" y="0"/>
                  </a:moveTo>
                  <a:lnTo>
                    <a:pt x="1322211" y="0"/>
                  </a:lnTo>
                  <a:cubicBezTo>
                    <a:pt x="1334138" y="0"/>
                    <a:pt x="1345576" y="4738"/>
                    <a:pt x="1354009" y="13171"/>
                  </a:cubicBezTo>
                  <a:cubicBezTo>
                    <a:pt x="1362442" y="21604"/>
                    <a:pt x="1367180" y="33042"/>
                    <a:pt x="1367180" y="44968"/>
                  </a:cubicBezTo>
                  <a:lnTo>
                    <a:pt x="1367180" y="767832"/>
                  </a:lnTo>
                  <a:cubicBezTo>
                    <a:pt x="1367180" y="779758"/>
                    <a:pt x="1362442" y="791196"/>
                    <a:pt x="1354009" y="799629"/>
                  </a:cubicBezTo>
                  <a:cubicBezTo>
                    <a:pt x="1345576" y="808062"/>
                    <a:pt x="1334138" y="812800"/>
                    <a:pt x="1322211" y="812800"/>
                  </a:cubicBezTo>
                  <a:lnTo>
                    <a:pt x="44968" y="812800"/>
                  </a:lnTo>
                  <a:cubicBezTo>
                    <a:pt x="33042" y="812800"/>
                    <a:pt x="21604" y="808062"/>
                    <a:pt x="13171" y="799629"/>
                  </a:cubicBezTo>
                  <a:cubicBezTo>
                    <a:pt x="4738" y="791196"/>
                    <a:pt x="0" y="779758"/>
                    <a:pt x="0" y="767832"/>
                  </a:cubicBezTo>
                  <a:lnTo>
                    <a:pt x="0" y="44968"/>
                  </a:lnTo>
                  <a:cubicBezTo>
                    <a:pt x="0" y="33042"/>
                    <a:pt x="4738" y="21604"/>
                    <a:pt x="13171" y="13171"/>
                  </a:cubicBezTo>
                  <a:cubicBezTo>
                    <a:pt x="21604" y="4738"/>
                    <a:pt x="33042" y="0"/>
                    <a:pt x="44968" y="0"/>
                  </a:cubicBezTo>
                  <a:close/>
                </a:path>
              </a:pathLst>
            </a:custGeom>
            <a:blipFill>
              <a:blip r:embed="rId3"/>
              <a:stretch>
                <a:fillRect l="-63" t="0" r="-63" b="0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8672198" y="2024708"/>
            <a:ext cx="8881522" cy="5112016"/>
            <a:chOff x="0" y="0"/>
            <a:chExt cx="11842030" cy="6816021"/>
          </a:xfrm>
        </p:grpSpPr>
        <p:sp>
          <p:nvSpPr>
            <p:cNvPr name="TextBox 10" id="10"/>
            <p:cNvSpPr txBox="true"/>
            <p:nvPr/>
          </p:nvSpPr>
          <p:spPr>
            <a:xfrm rot="0">
              <a:off x="0" y="4346683"/>
              <a:ext cx="11842030" cy="246933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718"/>
                </a:lnSpc>
              </a:pPr>
              <a:r>
                <a:rPr lang="en-US" sz="2860" spc="-57" strike="noStrike" u="none">
                  <a:solidFill>
                    <a:srgbClr val="FFFFFF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This section details how attendance is recorded using bit manipulation, explaining how each student's presence is represented by bits and demonstrating the logic for marking attendance efficiently.</a:t>
              </a: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0" y="171450"/>
              <a:ext cx="11099800" cy="335068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9500"/>
                </a:lnSpc>
                <a:spcBef>
                  <a:spcPct val="0"/>
                </a:spcBef>
              </a:pPr>
              <a:r>
                <a:rPr lang="en-US" sz="9500" spc="-190" strike="noStrike" u="none">
                  <a:solidFill>
                    <a:srgbClr val="FFFFFF"/>
                  </a:solidFill>
                  <a:latin typeface="Cooper BT Light"/>
                  <a:ea typeface="Cooper BT Light"/>
                  <a:cs typeface="Cooper BT Light"/>
                  <a:sym typeface="Cooper BT Light"/>
                </a:rPr>
                <a:t>Marking Attendance</a:t>
              </a: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0">
            <a:off x="0" y="4866365"/>
            <a:ext cx="1438275" cy="1315368"/>
          </a:xfrm>
          <a:custGeom>
            <a:avLst/>
            <a:gdLst/>
            <a:ahLst/>
            <a:cxnLst/>
            <a:rect r="r" b="b" t="t" l="l"/>
            <a:pathLst>
              <a:path h="1315368" w="1438275">
                <a:moveTo>
                  <a:pt x="0" y="0"/>
                </a:moveTo>
                <a:lnTo>
                  <a:pt x="1438275" y="0"/>
                </a:lnTo>
                <a:lnTo>
                  <a:pt x="1438275" y="1315368"/>
                </a:lnTo>
                <a:lnTo>
                  <a:pt x="0" y="131536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F346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66750" y="2054676"/>
            <a:ext cx="14199970" cy="4677574"/>
            <a:chOff x="0" y="0"/>
            <a:chExt cx="18933294" cy="6236765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5012189"/>
              <a:ext cx="18933294" cy="122457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730"/>
                </a:lnSpc>
              </a:pPr>
              <a:r>
                <a:rPr lang="en-US" sz="2869" spc="-57" strike="noStrike" u="none">
                  <a:solidFill>
                    <a:srgbClr val="FFFFFF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This section covers the user interface of the program, allowing users to </a:t>
              </a:r>
              <a:r>
                <a:rPr lang="en-US" b="true" sz="2869" spc="-57" strike="noStrike" u="none">
                  <a:solidFill>
                    <a:srgbClr val="FFFFFF"/>
                  </a:solidFill>
                  <a:latin typeface="TT Interphases Bold"/>
                  <a:ea typeface="TT Interphases Bold"/>
                  <a:cs typeface="TT Interphases Bold"/>
                  <a:sym typeface="TT Interphases Bold"/>
                </a:rPr>
                <a:t>efficiently manage attendance</a:t>
              </a:r>
              <a:r>
                <a:rPr lang="en-US" sz="2869" spc="-57" strike="noStrike" u="none">
                  <a:solidFill>
                    <a:srgbClr val="FFFFFF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 through a simple interactive menu for various operations.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0" y="190500"/>
              <a:ext cx="13017500" cy="347133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9874"/>
                </a:lnSpc>
                <a:spcBef>
                  <a:spcPct val="0"/>
                </a:spcBef>
              </a:pPr>
              <a:r>
                <a:rPr lang="en-US" sz="9874" spc="-197" strike="noStrike" u="none">
                  <a:solidFill>
                    <a:srgbClr val="FFFFFF"/>
                  </a:solidFill>
                  <a:latin typeface="Cooper BT Light"/>
                  <a:ea typeface="Cooper BT Light"/>
                  <a:cs typeface="Cooper BT Light"/>
                  <a:sym typeface="Cooper BT Light"/>
                </a:rPr>
                <a:t>Menu-driven Interaction</a:t>
              </a: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5428144" y="6607510"/>
            <a:ext cx="3459016" cy="4461104"/>
          </a:xfrm>
          <a:custGeom>
            <a:avLst/>
            <a:gdLst/>
            <a:ahLst/>
            <a:cxnLst/>
            <a:rect r="r" b="b" t="t" l="l"/>
            <a:pathLst>
              <a:path h="4461104" w="3459016">
                <a:moveTo>
                  <a:pt x="0" y="0"/>
                </a:moveTo>
                <a:lnTo>
                  <a:pt x="3459015" y="0"/>
                </a:lnTo>
                <a:lnTo>
                  <a:pt x="3459015" y="4461105"/>
                </a:lnTo>
                <a:lnTo>
                  <a:pt x="0" y="446110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66750" y="3352800"/>
            <a:ext cx="5448300" cy="6267450"/>
            <a:chOff x="0" y="0"/>
            <a:chExt cx="1434943" cy="165068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34943" cy="1650686"/>
            </a:xfrm>
            <a:custGeom>
              <a:avLst/>
              <a:gdLst/>
              <a:ahLst/>
              <a:cxnLst/>
              <a:rect r="r" b="b" t="t" l="l"/>
              <a:pathLst>
                <a:path h="1650686" w="1434943">
                  <a:moveTo>
                    <a:pt x="56839" y="0"/>
                  </a:moveTo>
                  <a:lnTo>
                    <a:pt x="1378104" y="0"/>
                  </a:lnTo>
                  <a:cubicBezTo>
                    <a:pt x="1409495" y="0"/>
                    <a:pt x="1434943" y="25448"/>
                    <a:pt x="1434943" y="56839"/>
                  </a:cubicBezTo>
                  <a:lnTo>
                    <a:pt x="1434943" y="1593847"/>
                  </a:lnTo>
                  <a:cubicBezTo>
                    <a:pt x="1434943" y="1625239"/>
                    <a:pt x="1409495" y="1650686"/>
                    <a:pt x="1378104" y="1650686"/>
                  </a:cubicBezTo>
                  <a:lnTo>
                    <a:pt x="56839" y="1650686"/>
                  </a:lnTo>
                  <a:cubicBezTo>
                    <a:pt x="25448" y="1650686"/>
                    <a:pt x="0" y="1625239"/>
                    <a:pt x="0" y="1593847"/>
                  </a:cubicBezTo>
                  <a:lnTo>
                    <a:pt x="0" y="56839"/>
                  </a:lnTo>
                  <a:cubicBezTo>
                    <a:pt x="0" y="25448"/>
                    <a:pt x="25448" y="0"/>
                    <a:pt x="56839" y="0"/>
                  </a:cubicBezTo>
                  <a:close/>
                </a:path>
              </a:pathLst>
            </a:custGeom>
            <a:solidFill>
              <a:srgbClr val="E94560"/>
            </a:solidFill>
            <a:ln w="2857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1434943" cy="167926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0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6419850" y="3352800"/>
            <a:ext cx="5448300" cy="6267450"/>
            <a:chOff x="0" y="0"/>
            <a:chExt cx="1434943" cy="165068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434943" cy="1650686"/>
            </a:xfrm>
            <a:custGeom>
              <a:avLst/>
              <a:gdLst/>
              <a:ahLst/>
              <a:cxnLst/>
              <a:rect r="r" b="b" t="t" l="l"/>
              <a:pathLst>
                <a:path h="1650686" w="1434943">
                  <a:moveTo>
                    <a:pt x="56839" y="0"/>
                  </a:moveTo>
                  <a:lnTo>
                    <a:pt x="1378104" y="0"/>
                  </a:lnTo>
                  <a:cubicBezTo>
                    <a:pt x="1409495" y="0"/>
                    <a:pt x="1434943" y="25448"/>
                    <a:pt x="1434943" y="56839"/>
                  </a:cubicBezTo>
                  <a:lnTo>
                    <a:pt x="1434943" y="1593847"/>
                  </a:lnTo>
                  <a:cubicBezTo>
                    <a:pt x="1434943" y="1625239"/>
                    <a:pt x="1409495" y="1650686"/>
                    <a:pt x="1378104" y="1650686"/>
                  </a:cubicBezTo>
                  <a:lnTo>
                    <a:pt x="56839" y="1650686"/>
                  </a:lnTo>
                  <a:cubicBezTo>
                    <a:pt x="25448" y="1650686"/>
                    <a:pt x="0" y="1625239"/>
                    <a:pt x="0" y="1593847"/>
                  </a:cubicBezTo>
                  <a:lnTo>
                    <a:pt x="0" y="56839"/>
                  </a:lnTo>
                  <a:cubicBezTo>
                    <a:pt x="0" y="25448"/>
                    <a:pt x="25448" y="0"/>
                    <a:pt x="56839" y="0"/>
                  </a:cubicBezTo>
                  <a:close/>
                </a:path>
              </a:pathLst>
            </a:custGeom>
            <a:solidFill>
              <a:srgbClr val="E94560"/>
            </a:solidFill>
            <a:ln w="2857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28575"/>
              <a:ext cx="1434943" cy="167926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00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2172950" y="3352800"/>
            <a:ext cx="5448300" cy="6267450"/>
            <a:chOff x="0" y="0"/>
            <a:chExt cx="1434943" cy="165068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434943" cy="1650686"/>
            </a:xfrm>
            <a:custGeom>
              <a:avLst/>
              <a:gdLst/>
              <a:ahLst/>
              <a:cxnLst/>
              <a:rect r="r" b="b" t="t" l="l"/>
              <a:pathLst>
                <a:path h="1650686" w="1434943">
                  <a:moveTo>
                    <a:pt x="56839" y="0"/>
                  </a:moveTo>
                  <a:lnTo>
                    <a:pt x="1378104" y="0"/>
                  </a:lnTo>
                  <a:cubicBezTo>
                    <a:pt x="1409495" y="0"/>
                    <a:pt x="1434943" y="25448"/>
                    <a:pt x="1434943" y="56839"/>
                  </a:cubicBezTo>
                  <a:lnTo>
                    <a:pt x="1434943" y="1593847"/>
                  </a:lnTo>
                  <a:cubicBezTo>
                    <a:pt x="1434943" y="1625239"/>
                    <a:pt x="1409495" y="1650686"/>
                    <a:pt x="1378104" y="1650686"/>
                  </a:cubicBezTo>
                  <a:lnTo>
                    <a:pt x="56839" y="1650686"/>
                  </a:lnTo>
                  <a:cubicBezTo>
                    <a:pt x="25448" y="1650686"/>
                    <a:pt x="0" y="1625239"/>
                    <a:pt x="0" y="1593847"/>
                  </a:cubicBezTo>
                  <a:lnTo>
                    <a:pt x="0" y="56839"/>
                  </a:lnTo>
                  <a:cubicBezTo>
                    <a:pt x="0" y="25448"/>
                    <a:pt x="25448" y="0"/>
                    <a:pt x="56839" y="0"/>
                  </a:cubicBezTo>
                  <a:close/>
                </a:path>
              </a:pathLst>
            </a:custGeom>
            <a:solidFill>
              <a:srgbClr val="E94560"/>
            </a:solidFill>
            <a:ln w="2857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28575"/>
              <a:ext cx="1434943" cy="167926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00"/>
                </a:lnSpc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667589" y="828675"/>
            <a:ext cx="16952821" cy="11302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499"/>
              </a:lnSpc>
              <a:spcBef>
                <a:spcPct val="0"/>
              </a:spcBef>
            </a:pPr>
            <a:r>
              <a:rPr lang="en-US" sz="8499" spc="-169" strike="noStrike" u="none">
                <a:solidFill>
                  <a:srgbClr val="FFFFFF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Program Operations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2105025" y="4248262"/>
            <a:ext cx="2571750" cy="4322333"/>
            <a:chOff x="0" y="0"/>
            <a:chExt cx="3429000" cy="5763111"/>
          </a:xfrm>
        </p:grpSpPr>
        <p:sp>
          <p:nvSpPr>
            <p:cNvPr name="TextBox 13" id="13"/>
            <p:cNvSpPr txBox="true"/>
            <p:nvPr/>
          </p:nvSpPr>
          <p:spPr>
            <a:xfrm rot="0">
              <a:off x="0" y="142875"/>
              <a:ext cx="3429000" cy="147435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8000"/>
                </a:lnSpc>
                <a:spcBef>
                  <a:spcPct val="0"/>
                </a:spcBef>
              </a:pPr>
              <a:r>
                <a:rPr lang="en-US" sz="8000" spc="-160" strike="noStrike" u="none">
                  <a:solidFill>
                    <a:srgbClr val="FFFFFF"/>
                  </a:solidFill>
                  <a:latin typeface="Cooper BT Light"/>
                  <a:ea typeface="Cooper BT Light"/>
                  <a:cs typeface="Cooper BT Light"/>
                  <a:sym typeface="Cooper BT Light"/>
                </a:rPr>
                <a:t>01</a:t>
              </a:r>
            </a:p>
          </p:txBody>
        </p:sp>
        <p:sp>
          <p:nvSpPr>
            <p:cNvPr name="TextBox 14" id="14"/>
            <p:cNvSpPr txBox="true"/>
            <p:nvPr/>
          </p:nvSpPr>
          <p:spPr>
            <a:xfrm rot="0">
              <a:off x="0" y="1739900"/>
              <a:ext cx="3429000" cy="13081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900"/>
                </a:lnSpc>
              </a:pPr>
              <a:r>
                <a:rPr lang="en-US" sz="3000">
                  <a:solidFill>
                    <a:srgbClr val="FFFFFF"/>
                  </a:solidFill>
                  <a:latin typeface="Cooper BT Light"/>
                  <a:ea typeface="Cooper BT Light"/>
                  <a:cs typeface="Cooper BT Light"/>
                  <a:sym typeface="Cooper BT Light"/>
                </a:rPr>
                <a:t>Count Present Students</a:t>
              </a:r>
            </a:p>
          </p:txBody>
        </p:sp>
        <p:sp>
          <p:nvSpPr>
            <p:cNvPr name="TextBox 15" id="15"/>
            <p:cNvSpPr txBox="true"/>
            <p:nvPr/>
          </p:nvSpPr>
          <p:spPr>
            <a:xfrm rot="0">
              <a:off x="0" y="4203551"/>
              <a:ext cx="3429000" cy="15595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120"/>
                </a:lnSpc>
                <a:spcBef>
                  <a:spcPct val="0"/>
                </a:spcBef>
              </a:pPr>
              <a:r>
                <a:rPr lang="en-US" sz="2400" spc="-48" strike="noStrike" u="none">
                  <a:solidFill>
                    <a:srgbClr val="FFFFFF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This function counts all students present.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7858125" y="4248150"/>
            <a:ext cx="2571750" cy="4322371"/>
            <a:chOff x="0" y="0"/>
            <a:chExt cx="3429000" cy="5763161"/>
          </a:xfrm>
        </p:grpSpPr>
        <p:sp>
          <p:nvSpPr>
            <p:cNvPr name="TextBox 17" id="17"/>
            <p:cNvSpPr txBox="true"/>
            <p:nvPr/>
          </p:nvSpPr>
          <p:spPr>
            <a:xfrm rot="0">
              <a:off x="0" y="142875"/>
              <a:ext cx="3429000" cy="147435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8000"/>
                </a:lnSpc>
                <a:spcBef>
                  <a:spcPct val="0"/>
                </a:spcBef>
              </a:pPr>
              <a:r>
                <a:rPr lang="en-US" sz="8000" spc="-160" strike="noStrike" u="none">
                  <a:solidFill>
                    <a:srgbClr val="FFFFFF"/>
                  </a:solidFill>
                  <a:latin typeface="Cooper BT Light"/>
                  <a:ea typeface="Cooper BT Light"/>
                  <a:cs typeface="Cooper BT Light"/>
                  <a:sym typeface="Cooper BT Light"/>
                </a:rPr>
                <a:t>02</a:t>
              </a:r>
            </a:p>
          </p:txBody>
        </p:sp>
        <p:sp>
          <p:nvSpPr>
            <p:cNvPr name="TextBox 18" id="18"/>
            <p:cNvSpPr txBox="true"/>
            <p:nvPr/>
          </p:nvSpPr>
          <p:spPr>
            <a:xfrm rot="0">
              <a:off x="0" y="1739900"/>
              <a:ext cx="3429000" cy="13081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900"/>
                </a:lnSpc>
                <a:spcBef>
                  <a:spcPct val="0"/>
                </a:spcBef>
              </a:pPr>
              <a:r>
                <a:rPr lang="en-US" sz="3000" strike="noStrike" u="none">
                  <a:solidFill>
                    <a:srgbClr val="FFFFFF"/>
                  </a:solidFill>
                  <a:latin typeface="Cooper BT Light"/>
                  <a:ea typeface="Cooper BT Light"/>
                  <a:cs typeface="Cooper BT Light"/>
                  <a:sym typeface="Cooper BT Light"/>
                </a:rPr>
                <a:t>Count Absent Students</a:t>
              </a:r>
            </a:p>
          </p:txBody>
        </p:sp>
        <p:sp>
          <p:nvSpPr>
            <p:cNvPr name="TextBox 19" id="19"/>
            <p:cNvSpPr txBox="true"/>
            <p:nvPr/>
          </p:nvSpPr>
          <p:spPr>
            <a:xfrm rot="0">
              <a:off x="0" y="4203601"/>
              <a:ext cx="3429000" cy="15595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120"/>
                </a:lnSpc>
                <a:spcBef>
                  <a:spcPct val="0"/>
                </a:spcBef>
              </a:pPr>
              <a:r>
                <a:rPr lang="en-US" sz="2400" spc="-48" strike="noStrike" u="none">
                  <a:solidFill>
                    <a:srgbClr val="FFFFFF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This calculates total minus present students.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3611225" y="4248150"/>
            <a:ext cx="2571750" cy="4322519"/>
            <a:chOff x="0" y="0"/>
            <a:chExt cx="3429000" cy="5763359"/>
          </a:xfrm>
        </p:grpSpPr>
        <p:sp>
          <p:nvSpPr>
            <p:cNvPr name="TextBox 21" id="21"/>
            <p:cNvSpPr txBox="true"/>
            <p:nvPr/>
          </p:nvSpPr>
          <p:spPr>
            <a:xfrm rot="0">
              <a:off x="0" y="142875"/>
              <a:ext cx="3429000" cy="147435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8000"/>
                </a:lnSpc>
                <a:spcBef>
                  <a:spcPct val="0"/>
                </a:spcBef>
              </a:pPr>
              <a:r>
                <a:rPr lang="en-US" sz="8000" spc="-160" strike="noStrike" u="none">
                  <a:solidFill>
                    <a:srgbClr val="FFFFFF"/>
                  </a:solidFill>
                  <a:latin typeface="Cooper BT Light"/>
                  <a:ea typeface="Cooper BT Light"/>
                  <a:cs typeface="Cooper BT Light"/>
                  <a:sym typeface="Cooper BT Light"/>
                </a:rPr>
                <a:t>03</a:t>
              </a:r>
            </a:p>
          </p:txBody>
        </p:sp>
        <p:sp>
          <p:nvSpPr>
            <p:cNvPr name="TextBox 22" id="22"/>
            <p:cNvSpPr txBox="true"/>
            <p:nvPr/>
          </p:nvSpPr>
          <p:spPr>
            <a:xfrm rot="0">
              <a:off x="0" y="1739900"/>
              <a:ext cx="3429000" cy="13081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900"/>
                </a:lnSpc>
                <a:spcBef>
                  <a:spcPct val="0"/>
                </a:spcBef>
              </a:pPr>
              <a:r>
                <a:rPr lang="en-US" sz="3000" strike="noStrike" u="none">
                  <a:solidFill>
                    <a:srgbClr val="FFFFFF"/>
                  </a:solidFill>
                  <a:latin typeface="Cooper BT Light"/>
                  <a:ea typeface="Cooper BT Light"/>
                  <a:cs typeface="Cooper BT Light"/>
                  <a:sym typeface="Cooper BT Light"/>
                </a:rPr>
                <a:t>Check Attendance</a:t>
              </a:r>
            </a:p>
          </p:txBody>
        </p:sp>
        <p:sp>
          <p:nvSpPr>
            <p:cNvPr name="TextBox 23" id="23"/>
            <p:cNvSpPr txBox="true"/>
            <p:nvPr/>
          </p:nvSpPr>
          <p:spPr>
            <a:xfrm rot="0">
              <a:off x="0" y="4203799"/>
              <a:ext cx="3429000" cy="15595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120"/>
                </a:lnSpc>
                <a:spcBef>
                  <a:spcPct val="0"/>
                </a:spcBef>
              </a:pPr>
              <a:r>
                <a:rPr lang="en-US" sz="2400" spc="-48" strike="noStrike" u="none">
                  <a:solidFill>
                    <a:srgbClr val="FFFFFF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Verify attendance for a specific roll number.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66750" y="3352800"/>
            <a:ext cx="5448300" cy="6267450"/>
            <a:chOff x="0" y="0"/>
            <a:chExt cx="1434943" cy="165068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34943" cy="1650686"/>
            </a:xfrm>
            <a:custGeom>
              <a:avLst/>
              <a:gdLst/>
              <a:ahLst/>
              <a:cxnLst/>
              <a:rect r="r" b="b" t="t" l="l"/>
              <a:pathLst>
                <a:path h="1650686" w="1434943">
                  <a:moveTo>
                    <a:pt x="56839" y="0"/>
                  </a:moveTo>
                  <a:lnTo>
                    <a:pt x="1378104" y="0"/>
                  </a:lnTo>
                  <a:cubicBezTo>
                    <a:pt x="1409495" y="0"/>
                    <a:pt x="1434943" y="25448"/>
                    <a:pt x="1434943" y="56839"/>
                  </a:cubicBezTo>
                  <a:lnTo>
                    <a:pt x="1434943" y="1593847"/>
                  </a:lnTo>
                  <a:cubicBezTo>
                    <a:pt x="1434943" y="1625239"/>
                    <a:pt x="1409495" y="1650686"/>
                    <a:pt x="1378104" y="1650686"/>
                  </a:cubicBezTo>
                  <a:lnTo>
                    <a:pt x="56839" y="1650686"/>
                  </a:lnTo>
                  <a:cubicBezTo>
                    <a:pt x="25448" y="1650686"/>
                    <a:pt x="0" y="1625239"/>
                    <a:pt x="0" y="1593847"/>
                  </a:cubicBezTo>
                  <a:lnTo>
                    <a:pt x="0" y="56839"/>
                  </a:lnTo>
                  <a:cubicBezTo>
                    <a:pt x="0" y="25448"/>
                    <a:pt x="25448" y="0"/>
                    <a:pt x="56839" y="0"/>
                  </a:cubicBezTo>
                  <a:close/>
                </a:path>
              </a:pathLst>
            </a:custGeom>
            <a:solidFill>
              <a:srgbClr val="E94560"/>
            </a:solidFill>
            <a:ln w="2857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1434943" cy="167926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0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6419850" y="3352800"/>
            <a:ext cx="5448300" cy="6267450"/>
            <a:chOff x="0" y="0"/>
            <a:chExt cx="1434943" cy="165068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434943" cy="1650686"/>
            </a:xfrm>
            <a:custGeom>
              <a:avLst/>
              <a:gdLst/>
              <a:ahLst/>
              <a:cxnLst/>
              <a:rect r="r" b="b" t="t" l="l"/>
              <a:pathLst>
                <a:path h="1650686" w="1434943">
                  <a:moveTo>
                    <a:pt x="56839" y="0"/>
                  </a:moveTo>
                  <a:lnTo>
                    <a:pt x="1378104" y="0"/>
                  </a:lnTo>
                  <a:cubicBezTo>
                    <a:pt x="1409495" y="0"/>
                    <a:pt x="1434943" y="25448"/>
                    <a:pt x="1434943" y="56839"/>
                  </a:cubicBezTo>
                  <a:lnTo>
                    <a:pt x="1434943" y="1593847"/>
                  </a:lnTo>
                  <a:cubicBezTo>
                    <a:pt x="1434943" y="1625239"/>
                    <a:pt x="1409495" y="1650686"/>
                    <a:pt x="1378104" y="1650686"/>
                  </a:cubicBezTo>
                  <a:lnTo>
                    <a:pt x="56839" y="1650686"/>
                  </a:lnTo>
                  <a:cubicBezTo>
                    <a:pt x="25448" y="1650686"/>
                    <a:pt x="0" y="1625239"/>
                    <a:pt x="0" y="1593847"/>
                  </a:cubicBezTo>
                  <a:lnTo>
                    <a:pt x="0" y="56839"/>
                  </a:lnTo>
                  <a:cubicBezTo>
                    <a:pt x="0" y="25448"/>
                    <a:pt x="25448" y="0"/>
                    <a:pt x="56839" y="0"/>
                  </a:cubicBezTo>
                  <a:close/>
                </a:path>
              </a:pathLst>
            </a:custGeom>
            <a:solidFill>
              <a:srgbClr val="E94560"/>
            </a:solidFill>
            <a:ln w="2857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28575"/>
              <a:ext cx="1434943" cy="167926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00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667589" y="828675"/>
            <a:ext cx="16952821" cy="11302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499"/>
              </a:lnSpc>
              <a:spcBef>
                <a:spcPct val="0"/>
              </a:spcBef>
            </a:pPr>
            <a:r>
              <a:rPr lang="en-US" sz="8499" spc="-169" strike="noStrike" u="none">
                <a:solidFill>
                  <a:srgbClr val="FFFFFF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Program Operations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2105025" y="4248262"/>
            <a:ext cx="2571750" cy="4712784"/>
            <a:chOff x="0" y="0"/>
            <a:chExt cx="3429000" cy="6283712"/>
          </a:xfrm>
        </p:grpSpPr>
        <p:sp>
          <p:nvSpPr>
            <p:cNvPr name="TextBox 10" id="10"/>
            <p:cNvSpPr txBox="true"/>
            <p:nvPr/>
          </p:nvSpPr>
          <p:spPr>
            <a:xfrm rot="0">
              <a:off x="0" y="142875"/>
              <a:ext cx="3429000" cy="147425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8000"/>
                </a:lnSpc>
                <a:spcBef>
                  <a:spcPct val="0"/>
                </a:spcBef>
              </a:pPr>
              <a:r>
                <a:rPr lang="en-US" sz="8000" spc="-160" strike="noStrike" u="none">
                  <a:solidFill>
                    <a:srgbClr val="FFFFFF"/>
                  </a:solidFill>
                  <a:latin typeface="Cooper BT Light"/>
                  <a:ea typeface="Cooper BT Light"/>
                  <a:cs typeface="Cooper BT Light"/>
                  <a:sym typeface="Cooper BT Light"/>
                </a:rPr>
                <a:t>04</a:t>
              </a: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0" y="1739801"/>
              <a:ext cx="3429000" cy="13081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900"/>
                </a:lnSpc>
              </a:pPr>
              <a:r>
                <a:rPr lang="en-US" sz="3000">
                  <a:solidFill>
                    <a:srgbClr val="FFFFFF"/>
                  </a:solidFill>
                  <a:latin typeface="Cooper BT Light"/>
                  <a:ea typeface="Cooper BT Light"/>
                  <a:cs typeface="Cooper BT Light"/>
                  <a:sym typeface="Cooper BT Light"/>
                </a:rPr>
                <a:t>Show bits </a:t>
              </a:r>
            </a:p>
            <a:p>
              <a:pPr algn="l" marL="0" indent="0" lvl="0">
                <a:lnSpc>
                  <a:spcPts val="3900"/>
                </a:lnSpc>
              </a:pPr>
              <a:r>
                <a:rPr lang="en-US" sz="3000">
                  <a:solidFill>
                    <a:srgbClr val="FFFFFF"/>
                  </a:solidFill>
                  <a:latin typeface="Cooper BT Light"/>
                  <a:ea typeface="Cooper BT Light"/>
                  <a:cs typeface="Cooper BT Light"/>
                  <a:sym typeface="Cooper BT Light"/>
                </a:rPr>
                <a:t>used</a:t>
              </a:r>
            </a:p>
          </p:txBody>
        </p:sp>
        <p:sp>
          <p:nvSpPr>
            <p:cNvPr name="TextBox 12" id="12"/>
            <p:cNvSpPr txBox="true"/>
            <p:nvPr/>
          </p:nvSpPr>
          <p:spPr>
            <a:xfrm rot="0">
              <a:off x="0" y="4203452"/>
              <a:ext cx="3429000" cy="20802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120"/>
                </a:lnSpc>
                <a:spcBef>
                  <a:spcPct val="0"/>
                </a:spcBef>
              </a:pPr>
              <a:r>
                <a:rPr lang="en-US" sz="2400" spc="-48">
                  <a:solidFill>
                    <a:srgbClr val="FFFFFF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Displays how many bits are used for attendence strorage.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7858125" y="4248150"/>
            <a:ext cx="2571750" cy="4817596"/>
            <a:chOff x="0" y="0"/>
            <a:chExt cx="3429000" cy="6423462"/>
          </a:xfrm>
        </p:grpSpPr>
        <p:sp>
          <p:nvSpPr>
            <p:cNvPr name="TextBox 14" id="14"/>
            <p:cNvSpPr txBox="true"/>
            <p:nvPr/>
          </p:nvSpPr>
          <p:spPr>
            <a:xfrm rot="0">
              <a:off x="0" y="142875"/>
              <a:ext cx="3429000" cy="147425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8000"/>
                </a:lnSpc>
                <a:spcBef>
                  <a:spcPct val="0"/>
                </a:spcBef>
              </a:pPr>
              <a:r>
                <a:rPr lang="en-US" sz="8000" spc="-160" strike="noStrike" u="none">
                  <a:solidFill>
                    <a:srgbClr val="FFFFFF"/>
                  </a:solidFill>
                  <a:latin typeface="Cooper BT Light"/>
                  <a:ea typeface="Cooper BT Light"/>
                  <a:cs typeface="Cooper BT Light"/>
                  <a:sym typeface="Cooper BT Light"/>
                </a:rPr>
                <a:t>05</a:t>
              </a:r>
            </a:p>
          </p:txBody>
        </p:sp>
        <p:sp>
          <p:nvSpPr>
            <p:cNvPr name="TextBox 15" id="15"/>
            <p:cNvSpPr txBox="true"/>
            <p:nvPr/>
          </p:nvSpPr>
          <p:spPr>
            <a:xfrm rot="0">
              <a:off x="0" y="1739801"/>
              <a:ext cx="3429000" cy="19685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900"/>
                </a:lnSpc>
                <a:spcBef>
                  <a:spcPct val="0"/>
                </a:spcBef>
              </a:pPr>
              <a:r>
                <a:rPr lang="en-US" sz="3000">
                  <a:solidFill>
                    <a:srgbClr val="FFFFFF"/>
                  </a:solidFill>
                  <a:latin typeface="Cooper BT Light"/>
                  <a:ea typeface="Cooper BT Light"/>
                  <a:cs typeface="Cooper BT Light"/>
                  <a:sym typeface="Cooper BT Light"/>
                </a:rPr>
                <a:t>Replace attendence of s roll number</a:t>
              </a:r>
            </a:p>
          </p:txBody>
        </p:sp>
        <p:sp>
          <p:nvSpPr>
            <p:cNvPr name="TextBox 16" id="16"/>
            <p:cNvSpPr txBox="true"/>
            <p:nvPr/>
          </p:nvSpPr>
          <p:spPr>
            <a:xfrm rot="0">
              <a:off x="0" y="4863902"/>
              <a:ext cx="3429000" cy="15595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120"/>
                </a:lnSpc>
                <a:spcBef>
                  <a:spcPct val="0"/>
                </a:spcBef>
              </a:pPr>
              <a:r>
                <a:rPr lang="en-US" sz="2400" spc="-48">
                  <a:solidFill>
                    <a:srgbClr val="FFFFFF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Modify attendence of a specific roll number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2357330" y="3352800"/>
            <a:ext cx="5448300" cy="6267450"/>
            <a:chOff x="0" y="0"/>
            <a:chExt cx="1434943" cy="1650686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434943" cy="1650686"/>
            </a:xfrm>
            <a:custGeom>
              <a:avLst/>
              <a:gdLst/>
              <a:ahLst/>
              <a:cxnLst/>
              <a:rect r="r" b="b" t="t" l="l"/>
              <a:pathLst>
                <a:path h="1650686" w="1434943">
                  <a:moveTo>
                    <a:pt x="56839" y="0"/>
                  </a:moveTo>
                  <a:lnTo>
                    <a:pt x="1378104" y="0"/>
                  </a:lnTo>
                  <a:cubicBezTo>
                    <a:pt x="1409495" y="0"/>
                    <a:pt x="1434943" y="25448"/>
                    <a:pt x="1434943" y="56839"/>
                  </a:cubicBezTo>
                  <a:lnTo>
                    <a:pt x="1434943" y="1593847"/>
                  </a:lnTo>
                  <a:cubicBezTo>
                    <a:pt x="1434943" y="1625239"/>
                    <a:pt x="1409495" y="1650686"/>
                    <a:pt x="1378104" y="1650686"/>
                  </a:cubicBezTo>
                  <a:lnTo>
                    <a:pt x="56839" y="1650686"/>
                  </a:lnTo>
                  <a:cubicBezTo>
                    <a:pt x="25448" y="1650686"/>
                    <a:pt x="0" y="1625239"/>
                    <a:pt x="0" y="1593847"/>
                  </a:cubicBezTo>
                  <a:lnTo>
                    <a:pt x="0" y="56839"/>
                  </a:lnTo>
                  <a:cubicBezTo>
                    <a:pt x="0" y="25448"/>
                    <a:pt x="25448" y="0"/>
                    <a:pt x="56839" y="0"/>
                  </a:cubicBezTo>
                  <a:close/>
                </a:path>
              </a:pathLst>
            </a:custGeom>
            <a:solidFill>
              <a:srgbClr val="E94560"/>
            </a:solidFill>
            <a:ln w="2857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28575"/>
              <a:ext cx="1434943" cy="167926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00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3120304" y="4195856"/>
            <a:ext cx="2571750" cy="4217521"/>
            <a:chOff x="0" y="0"/>
            <a:chExt cx="3429000" cy="5623362"/>
          </a:xfrm>
        </p:grpSpPr>
        <p:sp>
          <p:nvSpPr>
            <p:cNvPr name="TextBox 21" id="21"/>
            <p:cNvSpPr txBox="true"/>
            <p:nvPr/>
          </p:nvSpPr>
          <p:spPr>
            <a:xfrm rot="0">
              <a:off x="0" y="142875"/>
              <a:ext cx="3429000" cy="147425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8000"/>
                </a:lnSpc>
                <a:spcBef>
                  <a:spcPct val="0"/>
                </a:spcBef>
              </a:pPr>
              <a:r>
                <a:rPr lang="en-US" sz="8000" spc="-160" strike="noStrike" u="none">
                  <a:solidFill>
                    <a:srgbClr val="FFFFFF"/>
                  </a:solidFill>
                  <a:latin typeface="Cooper BT Light"/>
                  <a:ea typeface="Cooper BT Light"/>
                  <a:cs typeface="Cooper BT Light"/>
                  <a:sym typeface="Cooper BT Light"/>
                </a:rPr>
                <a:t>06</a:t>
              </a:r>
            </a:p>
          </p:txBody>
        </p:sp>
        <p:sp>
          <p:nvSpPr>
            <p:cNvPr name="TextBox 22" id="22"/>
            <p:cNvSpPr txBox="true"/>
            <p:nvPr/>
          </p:nvSpPr>
          <p:spPr>
            <a:xfrm rot="0">
              <a:off x="0" y="1739801"/>
              <a:ext cx="3429000" cy="6477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900"/>
                </a:lnSpc>
                <a:spcBef>
                  <a:spcPct val="0"/>
                </a:spcBef>
              </a:pPr>
              <a:r>
                <a:rPr lang="en-US" sz="3000">
                  <a:solidFill>
                    <a:srgbClr val="FFFFFF"/>
                  </a:solidFill>
                  <a:latin typeface="Cooper BT Light"/>
                  <a:ea typeface="Cooper BT Light"/>
                  <a:cs typeface="Cooper BT Light"/>
                  <a:sym typeface="Cooper BT Light"/>
                </a:rPr>
                <a:t>Exit</a:t>
              </a:r>
            </a:p>
          </p:txBody>
        </p:sp>
        <p:sp>
          <p:nvSpPr>
            <p:cNvPr name="TextBox 23" id="23"/>
            <p:cNvSpPr txBox="true"/>
            <p:nvPr/>
          </p:nvSpPr>
          <p:spPr>
            <a:xfrm rot="0">
              <a:off x="0" y="3543102"/>
              <a:ext cx="3429000" cy="20802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120"/>
                </a:lnSpc>
                <a:spcBef>
                  <a:spcPct val="0"/>
                </a:spcBef>
              </a:pPr>
              <a:r>
                <a:rPr lang="en-US" sz="2400" spc="-48">
                  <a:solidFill>
                    <a:srgbClr val="FFFFFF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Stops the program and close attendence system safely.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bg>
      <p:bgPr>
        <a:solidFill>
          <a:srgbClr val="1621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76524" y="720504"/>
            <a:ext cx="4985753" cy="7116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22"/>
              </a:lnSpc>
              <a:spcBef>
                <a:spcPct val="0"/>
              </a:spcBef>
            </a:pPr>
            <a:r>
              <a:rPr lang="en-US" sz="5322" spc="-106">
                <a:solidFill>
                  <a:srgbClr val="FFFFFF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SOURCE CODE :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219200" y="1893466"/>
            <a:ext cx="6230786" cy="73648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29"/>
              </a:lnSpc>
            </a:pPr>
            <a:r>
              <a:rPr lang="en-US" sz="2629" spc="-52">
                <a:solidFill>
                  <a:srgbClr val="FFFFFF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#include &lt;stdio.h&gt;</a:t>
            </a:r>
          </a:p>
          <a:p>
            <a:pPr algn="l">
              <a:lnSpc>
                <a:spcPts val="2629"/>
              </a:lnSpc>
            </a:pPr>
            <a:r>
              <a:rPr lang="en-US" sz="2629" spc="-52">
                <a:solidFill>
                  <a:srgbClr val="FFFFFF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unsigned int attendance = 0;   </a:t>
            </a:r>
          </a:p>
          <a:p>
            <a:pPr algn="l">
              <a:lnSpc>
                <a:spcPts val="2629"/>
              </a:lnSpc>
            </a:pPr>
            <a:r>
              <a:rPr lang="en-US" sz="2629" spc="-52">
                <a:solidFill>
                  <a:srgbClr val="FFFFFF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void markAttendance(int roll, char status) {</a:t>
            </a:r>
          </a:p>
          <a:p>
            <a:pPr algn="l">
              <a:lnSpc>
                <a:spcPts val="2629"/>
              </a:lnSpc>
            </a:pPr>
            <a:r>
              <a:rPr lang="en-US" sz="2629" spc="-52">
                <a:solidFill>
                  <a:srgbClr val="FFFFFF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    if (status == 'P' || status == 'p') {</a:t>
            </a:r>
          </a:p>
          <a:p>
            <a:pPr algn="l">
              <a:lnSpc>
                <a:spcPts val="2629"/>
              </a:lnSpc>
            </a:pPr>
            <a:r>
              <a:rPr lang="en-US" sz="2629" spc="-52">
                <a:solidFill>
                  <a:srgbClr val="FFFFFF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        attendance |= (1 &lt;&lt; roll);  </a:t>
            </a:r>
          </a:p>
          <a:p>
            <a:pPr algn="l">
              <a:lnSpc>
                <a:spcPts val="2629"/>
              </a:lnSpc>
            </a:pPr>
            <a:r>
              <a:rPr lang="en-US" sz="2629" spc="-52">
                <a:solidFill>
                  <a:srgbClr val="FFFFFF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    } </a:t>
            </a:r>
          </a:p>
          <a:p>
            <a:pPr algn="l">
              <a:lnSpc>
                <a:spcPts val="2629"/>
              </a:lnSpc>
            </a:pPr>
            <a:r>
              <a:rPr lang="en-US" sz="2629" spc="-52">
                <a:solidFill>
                  <a:srgbClr val="FFFFFF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    else if (status == 'A' || status == 'a') {</a:t>
            </a:r>
          </a:p>
          <a:p>
            <a:pPr algn="l">
              <a:lnSpc>
                <a:spcPts val="2629"/>
              </a:lnSpc>
            </a:pPr>
            <a:r>
              <a:rPr lang="en-US" sz="2629" spc="-52">
                <a:solidFill>
                  <a:srgbClr val="FFFFFF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        attendance &amp;= ~(1 &lt;&lt; roll);  </a:t>
            </a:r>
          </a:p>
          <a:p>
            <a:pPr algn="l">
              <a:lnSpc>
                <a:spcPts val="2629"/>
              </a:lnSpc>
            </a:pPr>
            <a:r>
              <a:rPr lang="en-US" sz="2629" spc="-52">
                <a:solidFill>
                  <a:srgbClr val="FFFFFF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    }</a:t>
            </a:r>
          </a:p>
          <a:p>
            <a:pPr algn="l">
              <a:lnSpc>
                <a:spcPts val="2629"/>
              </a:lnSpc>
            </a:pPr>
            <a:r>
              <a:rPr lang="en-US" sz="2629" spc="-52">
                <a:solidFill>
                  <a:srgbClr val="FFFFFF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    else {</a:t>
            </a:r>
          </a:p>
          <a:p>
            <a:pPr algn="l">
              <a:lnSpc>
                <a:spcPts val="2629"/>
              </a:lnSpc>
            </a:pPr>
            <a:r>
              <a:rPr lang="en-US" sz="2629" spc="-52">
                <a:solidFill>
                  <a:srgbClr val="FFFFFF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        printf("Invalid entry! Use P/p or A/a.\n");</a:t>
            </a:r>
          </a:p>
          <a:p>
            <a:pPr algn="l">
              <a:lnSpc>
                <a:spcPts val="2629"/>
              </a:lnSpc>
            </a:pPr>
            <a:r>
              <a:rPr lang="en-US" sz="2629" spc="-52">
                <a:solidFill>
                  <a:srgbClr val="FFFFFF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    }</a:t>
            </a:r>
          </a:p>
          <a:p>
            <a:pPr algn="l">
              <a:lnSpc>
                <a:spcPts val="2629"/>
              </a:lnSpc>
            </a:pPr>
            <a:r>
              <a:rPr lang="en-US" sz="2629" spc="-52">
                <a:solidFill>
                  <a:srgbClr val="FFFFFF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}</a:t>
            </a:r>
          </a:p>
          <a:p>
            <a:pPr algn="l">
              <a:lnSpc>
                <a:spcPts val="2629"/>
              </a:lnSpc>
            </a:pPr>
            <a:r>
              <a:rPr lang="en-US" sz="2629" spc="-52">
                <a:solidFill>
                  <a:srgbClr val="FFFFFF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int countPresent() {</a:t>
            </a:r>
          </a:p>
          <a:p>
            <a:pPr algn="l">
              <a:lnSpc>
                <a:spcPts val="2629"/>
              </a:lnSpc>
            </a:pPr>
            <a:r>
              <a:rPr lang="en-US" sz="2629" spc="-52">
                <a:solidFill>
                  <a:srgbClr val="FFFFFF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    int count = 0;</a:t>
            </a:r>
          </a:p>
          <a:p>
            <a:pPr algn="l">
              <a:lnSpc>
                <a:spcPts val="2629"/>
              </a:lnSpc>
            </a:pPr>
            <a:r>
              <a:rPr lang="en-US" sz="2629" spc="-52">
                <a:solidFill>
                  <a:srgbClr val="FFFFFF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    unsigned int temp = attendance;</a:t>
            </a:r>
          </a:p>
          <a:p>
            <a:pPr algn="l">
              <a:lnSpc>
                <a:spcPts val="2629"/>
              </a:lnSpc>
            </a:pPr>
            <a:r>
              <a:rPr lang="en-US" sz="2629" spc="-52">
                <a:solidFill>
                  <a:srgbClr val="FFFFFF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    while (temp) {</a:t>
            </a:r>
          </a:p>
          <a:p>
            <a:pPr algn="l">
              <a:lnSpc>
                <a:spcPts val="2629"/>
              </a:lnSpc>
            </a:pPr>
            <a:r>
              <a:rPr lang="en-US" sz="2629" spc="-52">
                <a:solidFill>
                  <a:srgbClr val="FFFFFF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        temp &amp;= (temp - 1);</a:t>
            </a:r>
          </a:p>
          <a:p>
            <a:pPr algn="l">
              <a:lnSpc>
                <a:spcPts val="2629"/>
              </a:lnSpc>
            </a:pPr>
            <a:r>
              <a:rPr lang="en-US" sz="2629" spc="-52">
                <a:solidFill>
                  <a:srgbClr val="FFFFFF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        count++;</a:t>
            </a:r>
          </a:p>
          <a:p>
            <a:pPr algn="l">
              <a:lnSpc>
                <a:spcPts val="2629"/>
              </a:lnSpc>
            </a:pPr>
            <a:r>
              <a:rPr lang="en-US" sz="2629" spc="-52">
                <a:solidFill>
                  <a:srgbClr val="FFFFFF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    }</a:t>
            </a:r>
          </a:p>
          <a:p>
            <a:pPr algn="l">
              <a:lnSpc>
                <a:spcPts val="2629"/>
              </a:lnSpc>
            </a:pPr>
            <a:r>
              <a:rPr lang="en-US" sz="2629" spc="-52">
                <a:solidFill>
                  <a:srgbClr val="FFFFFF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    return count;</a:t>
            </a:r>
          </a:p>
          <a:p>
            <a:pPr algn="l">
              <a:lnSpc>
                <a:spcPts val="2629"/>
              </a:lnSpc>
              <a:spcBef>
                <a:spcPct val="0"/>
              </a:spcBef>
            </a:pPr>
            <a:r>
              <a:rPr lang="en-US" sz="2629" spc="-52">
                <a:solidFill>
                  <a:srgbClr val="FFFFFF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}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8113801" y="961020"/>
            <a:ext cx="9685334" cy="84125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643"/>
              </a:lnSpc>
            </a:pPr>
            <a:r>
              <a:rPr lang="en-US" sz="2643" spc="-52">
                <a:solidFill>
                  <a:srgbClr val="FFFFFF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int main() {</a:t>
            </a:r>
          </a:p>
          <a:p>
            <a:pPr algn="just">
              <a:lnSpc>
                <a:spcPts val="2643"/>
              </a:lnSpc>
            </a:pPr>
            <a:r>
              <a:rPr lang="en-US" sz="2643" spc="-52">
                <a:solidFill>
                  <a:srgbClr val="FFFFFF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    int totalStudents, roll, choice;</a:t>
            </a:r>
          </a:p>
          <a:p>
            <a:pPr algn="just">
              <a:lnSpc>
                <a:spcPts val="2643"/>
              </a:lnSpc>
            </a:pPr>
            <a:r>
              <a:rPr lang="en-US" sz="2643" spc="-52">
                <a:solidFill>
                  <a:srgbClr val="FFFFFF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    char status;</a:t>
            </a:r>
          </a:p>
          <a:p>
            <a:pPr algn="just">
              <a:lnSpc>
                <a:spcPts val="2643"/>
              </a:lnSpc>
            </a:pPr>
            <a:r>
              <a:rPr lang="en-US" sz="2643" spc="-52">
                <a:solidFill>
                  <a:srgbClr val="FFFFFF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    printf("Enter number of students (max 32): ");</a:t>
            </a:r>
          </a:p>
          <a:p>
            <a:pPr algn="just">
              <a:lnSpc>
                <a:spcPts val="2643"/>
              </a:lnSpc>
            </a:pPr>
            <a:r>
              <a:rPr lang="en-US" sz="2643" spc="-52">
                <a:solidFill>
                  <a:srgbClr val="FFFFFF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    scanf("%d", &amp;totalStudents);</a:t>
            </a:r>
          </a:p>
          <a:p>
            <a:pPr algn="just">
              <a:lnSpc>
                <a:spcPts val="2643"/>
              </a:lnSpc>
            </a:pPr>
            <a:r>
              <a:rPr lang="en-US" sz="2643" spc="-52">
                <a:solidFill>
                  <a:srgbClr val="FFFFFF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    if (totalStudents &gt; 32 || totalStudents &lt; 1) {</a:t>
            </a:r>
          </a:p>
          <a:p>
            <a:pPr algn="just">
              <a:lnSpc>
                <a:spcPts val="2643"/>
              </a:lnSpc>
            </a:pPr>
            <a:r>
              <a:rPr lang="en-US" sz="2643" spc="-52">
                <a:solidFill>
                  <a:srgbClr val="FFFFFF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        printf("Invalid number of students!\n");</a:t>
            </a:r>
          </a:p>
          <a:p>
            <a:pPr algn="just">
              <a:lnSpc>
                <a:spcPts val="2643"/>
              </a:lnSpc>
            </a:pPr>
            <a:r>
              <a:rPr lang="en-US" sz="2643" spc="-52">
                <a:solidFill>
                  <a:srgbClr val="FFFFFF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        return 0;</a:t>
            </a:r>
          </a:p>
          <a:p>
            <a:pPr algn="just">
              <a:lnSpc>
                <a:spcPts val="2643"/>
              </a:lnSpc>
            </a:pPr>
            <a:r>
              <a:rPr lang="en-US" sz="2643" spc="-52">
                <a:solidFill>
                  <a:srgbClr val="FFFFFF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    }</a:t>
            </a:r>
          </a:p>
          <a:p>
            <a:pPr algn="just">
              <a:lnSpc>
                <a:spcPts val="2643"/>
              </a:lnSpc>
            </a:pPr>
            <a:r>
              <a:rPr lang="en-US" sz="2643" spc="-52">
                <a:solidFill>
                  <a:srgbClr val="FFFFFF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    printf("\n------ Mark Attendance ------\n");</a:t>
            </a:r>
          </a:p>
          <a:p>
            <a:pPr algn="just">
              <a:lnSpc>
                <a:spcPts val="2643"/>
              </a:lnSpc>
            </a:pPr>
            <a:r>
              <a:rPr lang="en-US" sz="2643" spc="-52">
                <a:solidFill>
                  <a:srgbClr val="FFFFFF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    for (roll = 1; roll &lt;= totalStudents; roll++) {</a:t>
            </a:r>
          </a:p>
          <a:p>
            <a:pPr algn="just">
              <a:lnSpc>
                <a:spcPts val="2643"/>
              </a:lnSpc>
            </a:pPr>
            <a:r>
              <a:rPr lang="en-US" sz="2643" spc="-52">
                <a:solidFill>
                  <a:srgbClr val="FFFFFF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        printf("Roll %d → Enter P/p for Present or A/a for Absent: ", roll);</a:t>
            </a:r>
          </a:p>
          <a:p>
            <a:pPr algn="just">
              <a:lnSpc>
                <a:spcPts val="2643"/>
              </a:lnSpc>
            </a:pPr>
            <a:r>
              <a:rPr lang="en-US" sz="2643" spc="-52">
                <a:solidFill>
                  <a:srgbClr val="FFFFFF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        scanf(" %c", &amp;status);</a:t>
            </a:r>
          </a:p>
          <a:p>
            <a:pPr algn="just">
              <a:lnSpc>
                <a:spcPts val="2643"/>
              </a:lnSpc>
            </a:pPr>
            <a:r>
              <a:rPr lang="en-US" sz="2643" spc="-52">
                <a:solidFill>
                  <a:srgbClr val="FFFFFF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        markAttendance(roll, status);</a:t>
            </a:r>
          </a:p>
          <a:p>
            <a:pPr algn="just">
              <a:lnSpc>
                <a:spcPts val="2643"/>
              </a:lnSpc>
            </a:pPr>
            <a:r>
              <a:rPr lang="en-US" sz="2643" spc="-52">
                <a:solidFill>
                  <a:srgbClr val="FFFFFF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    }</a:t>
            </a:r>
          </a:p>
          <a:p>
            <a:pPr algn="just">
              <a:lnSpc>
                <a:spcPts val="2643"/>
              </a:lnSpc>
            </a:pPr>
            <a:r>
              <a:rPr lang="en-US" sz="2643" spc="-52">
                <a:solidFill>
                  <a:srgbClr val="FFFFFF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    while (1) {</a:t>
            </a:r>
          </a:p>
          <a:p>
            <a:pPr algn="just">
              <a:lnSpc>
                <a:spcPts val="2643"/>
              </a:lnSpc>
            </a:pPr>
            <a:r>
              <a:rPr lang="en-US" sz="2643" spc="-52">
                <a:solidFill>
                  <a:srgbClr val="FFFFFF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        printf("\n                MENU           \n");</a:t>
            </a:r>
          </a:p>
          <a:p>
            <a:pPr algn="just">
              <a:lnSpc>
                <a:spcPts val="2643"/>
              </a:lnSpc>
            </a:pPr>
            <a:r>
              <a:rPr lang="en-US" sz="2643" spc="-52">
                <a:solidFill>
                  <a:srgbClr val="FFFFFF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        printf("1. Count Present Students\n");</a:t>
            </a:r>
          </a:p>
          <a:p>
            <a:pPr algn="just">
              <a:lnSpc>
                <a:spcPts val="2643"/>
              </a:lnSpc>
            </a:pPr>
            <a:r>
              <a:rPr lang="en-US" sz="2643" spc="-52">
                <a:solidFill>
                  <a:srgbClr val="FFFFFF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        printf("2. Count Absent Students\n");</a:t>
            </a:r>
          </a:p>
          <a:p>
            <a:pPr algn="just">
              <a:lnSpc>
                <a:spcPts val="2643"/>
              </a:lnSpc>
            </a:pPr>
            <a:r>
              <a:rPr lang="en-US" sz="2643" spc="-52">
                <a:solidFill>
                  <a:srgbClr val="FFFFFF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        printf("3. Check Attendance of a Roll Number\n");</a:t>
            </a:r>
          </a:p>
          <a:p>
            <a:pPr algn="just">
              <a:lnSpc>
                <a:spcPts val="2643"/>
              </a:lnSpc>
            </a:pPr>
            <a:r>
              <a:rPr lang="en-US" sz="2643" spc="-52">
                <a:solidFill>
                  <a:srgbClr val="FFFFFF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        printf("4. Show Bits Used\n");</a:t>
            </a:r>
          </a:p>
          <a:p>
            <a:pPr algn="just">
              <a:lnSpc>
                <a:spcPts val="2643"/>
              </a:lnSpc>
            </a:pPr>
            <a:r>
              <a:rPr lang="en-US" sz="2643" spc="-52">
                <a:solidFill>
                  <a:srgbClr val="FFFFFF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        printf("5. Replace Attendance for a Roll No\n");</a:t>
            </a:r>
          </a:p>
          <a:p>
            <a:pPr algn="just">
              <a:lnSpc>
                <a:spcPts val="2643"/>
              </a:lnSpc>
            </a:pPr>
            <a:r>
              <a:rPr lang="en-US" sz="2643" spc="-52">
                <a:solidFill>
                  <a:srgbClr val="FFFFFF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        printf("6. Exit\n");</a:t>
            </a:r>
          </a:p>
          <a:p>
            <a:pPr algn="just">
              <a:lnSpc>
                <a:spcPts val="2643"/>
              </a:lnSpc>
            </a:pPr>
            <a:r>
              <a:rPr lang="en-US" sz="2643" spc="-52">
                <a:solidFill>
                  <a:srgbClr val="FFFFFF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        printf("Enter choice: ");</a:t>
            </a:r>
          </a:p>
          <a:p>
            <a:pPr algn="just">
              <a:lnSpc>
                <a:spcPts val="2643"/>
              </a:lnSpc>
              <a:spcBef>
                <a:spcPct val="0"/>
              </a:spcBef>
            </a:pPr>
            <a:r>
              <a:rPr lang="en-US" sz="2643" spc="-52">
                <a:solidFill>
                  <a:srgbClr val="FFFFFF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        scanf("%d", &amp;choice);</a:t>
            </a:r>
          </a:p>
        </p:txBody>
      </p:sp>
      <p:sp>
        <p:nvSpPr>
          <p:cNvPr name="AutoShape 5" id="5"/>
          <p:cNvSpPr/>
          <p:nvPr/>
        </p:nvSpPr>
        <p:spPr>
          <a:xfrm>
            <a:off x="7781893" y="625254"/>
            <a:ext cx="0" cy="8748351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bg>
      <p:bgPr>
        <a:solidFill>
          <a:srgbClr val="1621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423238" y="663262"/>
            <a:ext cx="7809304" cy="89683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1"/>
              </a:lnSpc>
              <a:spcBef>
                <a:spcPct val="0"/>
              </a:spcBef>
            </a:pPr>
            <a:r>
              <a:rPr lang="en-US" sz="2881" spc="-57">
                <a:solidFill>
                  <a:srgbClr val="FFFFFF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 switch (choice) {</a:t>
            </a:r>
          </a:p>
          <a:p>
            <a:pPr algn="l">
              <a:lnSpc>
                <a:spcPts val="2881"/>
              </a:lnSpc>
              <a:spcBef>
                <a:spcPct val="0"/>
              </a:spcBef>
            </a:pPr>
            <a:r>
              <a:rPr lang="en-US" sz="2881" spc="-57">
                <a:solidFill>
                  <a:srgbClr val="FFFFFF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            case 1:</a:t>
            </a:r>
          </a:p>
          <a:p>
            <a:pPr algn="l">
              <a:lnSpc>
                <a:spcPts val="2881"/>
              </a:lnSpc>
              <a:spcBef>
                <a:spcPct val="0"/>
              </a:spcBef>
            </a:pPr>
            <a:r>
              <a:rPr lang="en-US" sz="2881" spc="-57">
                <a:solidFill>
                  <a:srgbClr val="FFFFFF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                printf("Total Present: %d\n", countPresent());</a:t>
            </a:r>
          </a:p>
          <a:p>
            <a:pPr algn="l">
              <a:lnSpc>
                <a:spcPts val="2881"/>
              </a:lnSpc>
              <a:spcBef>
                <a:spcPct val="0"/>
              </a:spcBef>
            </a:pPr>
            <a:r>
              <a:rPr lang="en-US" sz="2881" spc="-57">
                <a:solidFill>
                  <a:srgbClr val="FFFFFF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                break;</a:t>
            </a:r>
          </a:p>
          <a:p>
            <a:pPr algn="l">
              <a:lnSpc>
                <a:spcPts val="2881"/>
              </a:lnSpc>
              <a:spcBef>
                <a:spcPct val="0"/>
              </a:spcBef>
            </a:pPr>
            <a:r>
              <a:rPr lang="en-US" sz="2881" spc="-57">
                <a:solidFill>
                  <a:srgbClr val="FFFFFF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            case 2:</a:t>
            </a:r>
          </a:p>
          <a:p>
            <a:pPr algn="l">
              <a:lnSpc>
                <a:spcPts val="2881"/>
              </a:lnSpc>
              <a:spcBef>
                <a:spcPct val="0"/>
              </a:spcBef>
            </a:pPr>
            <a:r>
              <a:rPr lang="en-US" sz="2881" spc="-57">
                <a:solidFill>
                  <a:srgbClr val="FFFFFF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                printf("Total Absent: %d\n", totalStudents - countPresent());</a:t>
            </a:r>
          </a:p>
          <a:p>
            <a:pPr algn="l">
              <a:lnSpc>
                <a:spcPts val="2881"/>
              </a:lnSpc>
              <a:spcBef>
                <a:spcPct val="0"/>
              </a:spcBef>
            </a:pPr>
            <a:r>
              <a:rPr lang="en-US" sz="2881" spc="-57">
                <a:solidFill>
                  <a:srgbClr val="FFFFFF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                break;</a:t>
            </a:r>
          </a:p>
          <a:p>
            <a:pPr algn="l">
              <a:lnSpc>
                <a:spcPts val="2881"/>
              </a:lnSpc>
              <a:spcBef>
                <a:spcPct val="0"/>
              </a:spcBef>
            </a:pPr>
            <a:r>
              <a:rPr lang="en-US" sz="2881" spc="-57">
                <a:solidFill>
                  <a:srgbClr val="FFFFFF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            case 3:</a:t>
            </a:r>
          </a:p>
          <a:p>
            <a:pPr algn="l">
              <a:lnSpc>
                <a:spcPts val="2881"/>
              </a:lnSpc>
              <a:spcBef>
                <a:spcPct val="0"/>
              </a:spcBef>
            </a:pPr>
            <a:r>
              <a:rPr lang="en-US" sz="2881" spc="-57">
                <a:solidFill>
                  <a:srgbClr val="FFFFFF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                printf("Enter Roll Number: ");</a:t>
            </a:r>
          </a:p>
          <a:p>
            <a:pPr algn="l">
              <a:lnSpc>
                <a:spcPts val="2881"/>
              </a:lnSpc>
              <a:spcBef>
                <a:spcPct val="0"/>
              </a:spcBef>
            </a:pPr>
            <a:r>
              <a:rPr lang="en-US" sz="2881" spc="-57">
                <a:solidFill>
                  <a:srgbClr val="FFFFFF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                scanf("%d", &amp;roll);</a:t>
            </a:r>
          </a:p>
          <a:p>
            <a:pPr algn="l">
              <a:lnSpc>
                <a:spcPts val="2881"/>
              </a:lnSpc>
              <a:spcBef>
                <a:spcPct val="0"/>
              </a:spcBef>
            </a:pPr>
            <a:r>
              <a:rPr lang="en-US" sz="2881" spc="-57">
                <a:solidFill>
                  <a:srgbClr val="FFFFFF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                if (roll &gt;= 1 &amp;&amp; roll &lt;= totalStudents) {</a:t>
            </a:r>
          </a:p>
          <a:p>
            <a:pPr algn="l">
              <a:lnSpc>
                <a:spcPts val="2881"/>
              </a:lnSpc>
              <a:spcBef>
                <a:spcPct val="0"/>
              </a:spcBef>
            </a:pPr>
            <a:r>
              <a:rPr lang="en-US" sz="2881" spc="-57">
                <a:solidFill>
                  <a:srgbClr val="FFFFFF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                    if (attendance &amp; (1 &lt;&lt; roll))</a:t>
            </a:r>
          </a:p>
          <a:p>
            <a:pPr algn="l">
              <a:lnSpc>
                <a:spcPts val="2881"/>
              </a:lnSpc>
              <a:spcBef>
                <a:spcPct val="0"/>
              </a:spcBef>
            </a:pPr>
            <a:r>
              <a:rPr lang="en-US" sz="2881" spc="-57">
                <a:solidFill>
                  <a:srgbClr val="FFFFFF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                        printf("Roll %d is PRESENT.\n", roll);</a:t>
            </a:r>
          </a:p>
          <a:p>
            <a:pPr algn="l">
              <a:lnSpc>
                <a:spcPts val="2881"/>
              </a:lnSpc>
              <a:spcBef>
                <a:spcPct val="0"/>
              </a:spcBef>
            </a:pPr>
            <a:r>
              <a:rPr lang="en-US" sz="2881" spc="-57">
                <a:solidFill>
                  <a:srgbClr val="FFFFFF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                    else</a:t>
            </a:r>
          </a:p>
          <a:p>
            <a:pPr algn="l">
              <a:lnSpc>
                <a:spcPts val="2881"/>
              </a:lnSpc>
              <a:spcBef>
                <a:spcPct val="0"/>
              </a:spcBef>
            </a:pPr>
            <a:r>
              <a:rPr lang="en-US" sz="2881" spc="-57">
                <a:solidFill>
                  <a:srgbClr val="FFFFFF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                        printf("Roll %d is ABSENT.\n", roll);</a:t>
            </a:r>
          </a:p>
          <a:p>
            <a:pPr algn="l">
              <a:lnSpc>
                <a:spcPts val="2881"/>
              </a:lnSpc>
              <a:spcBef>
                <a:spcPct val="0"/>
              </a:spcBef>
            </a:pPr>
            <a:r>
              <a:rPr lang="en-US" sz="2881" spc="-57">
                <a:solidFill>
                  <a:srgbClr val="FFFFFF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                } else {</a:t>
            </a:r>
          </a:p>
          <a:p>
            <a:pPr algn="l">
              <a:lnSpc>
                <a:spcPts val="2881"/>
              </a:lnSpc>
              <a:spcBef>
                <a:spcPct val="0"/>
              </a:spcBef>
            </a:pPr>
            <a:r>
              <a:rPr lang="en-US" sz="2881" spc="-57">
                <a:solidFill>
                  <a:srgbClr val="FFFFFF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                    printf("Invalid roll number!\n");</a:t>
            </a:r>
          </a:p>
          <a:p>
            <a:pPr algn="l">
              <a:lnSpc>
                <a:spcPts val="2881"/>
              </a:lnSpc>
              <a:spcBef>
                <a:spcPct val="0"/>
              </a:spcBef>
            </a:pPr>
            <a:r>
              <a:rPr lang="en-US" sz="2881" spc="-57">
                <a:solidFill>
                  <a:srgbClr val="FFFFFF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                }</a:t>
            </a:r>
          </a:p>
          <a:p>
            <a:pPr algn="l">
              <a:lnSpc>
                <a:spcPts val="2881"/>
              </a:lnSpc>
              <a:spcBef>
                <a:spcPct val="0"/>
              </a:spcBef>
            </a:pPr>
            <a:r>
              <a:rPr lang="en-US" sz="2881" spc="-57">
                <a:solidFill>
                  <a:srgbClr val="FFFFFF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                break;</a:t>
            </a:r>
          </a:p>
          <a:p>
            <a:pPr algn="l">
              <a:lnSpc>
                <a:spcPts val="2881"/>
              </a:lnSpc>
              <a:spcBef>
                <a:spcPct val="0"/>
              </a:spcBef>
            </a:pPr>
            <a:r>
              <a:rPr lang="en-US" sz="2881" spc="-57">
                <a:solidFill>
                  <a:srgbClr val="FFFFFF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            case 4:</a:t>
            </a:r>
          </a:p>
          <a:p>
            <a:pPr algn="l">
              <a:lnSpc>
                <a:spcPts val="2881"/>
              </a:lnSpc>
              <a:spcBef>
                <a:spcPct val="0"/>
              </a:spcBef>
            </a:pPr>
            <a:r>
              <a:rPr lang="en-US" sz="2881" spc="-57">
                <a:solidFill>
                  <a:srgbClr val="FFFFFF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                printf("Total Bits Used for Attendance = %d bits\n", totalStudents);</a:t>
            </a:r>
          </a:p>
          <a:p>
            <a:pPr algn="l">
              <a:lnSpc>
                <a:spcPts val="2881"/>
              </a:lnSpc>
              <a:spcBef>
                <a:spcPct val="0"/>
              </a:spcBef>
            </a:pPr>
            <a:r>
              <a:rPr lang="en-US" sz="2881" spc="-57">
                <a:solidFill>
                  <a:srgbClr val="FFFFFF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                break;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9144000" y="708679"/>
            <a:ext cx="8233334" cy="85496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7"/>
              </a:lnSpc>
            </a:pPr>
            <a:r>
              <a:rPr lang="en-US" sz="2947" spc="-58">
                <a:solidFill>
                  <a:srgbClr val="FFFFFF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case 5:</a:t>
            </a:r>
          </a:p>
          <a:p>
            <a:pPr algn="l">
              <a:lnSpc>
                <a:spcPts val="2947"/>
              </a:lnSpc>
            </a:pPr>
            <a:r>
              <a:rPr lang="en-US" sz="2947" spc="-58">
                <a:solidFill>
                  <a:srgbClr val="FFFFFF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                printf("Enter Roll Number to Replace: ");</a:t>
            </a:r>
          </a:p>
          <a:p>
            <a:pPr algn="l">
              <a:lnSpc>
                <a:spcPts val="2947"/>
              </a:lnSpc>
            </a:pPr>
            <a:r>
              <a:rPr lang="en-US" sz="2947" spc="-58">
                <a:solidFill>
                  <a:srgbClr val="FFFFFF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                scanf("%d", &amp;roll);</a:t>
            </a:r>
          </a:p>
          <a:p>
            <a:pPr algn="l">
              <a:lnSpc>
                <a:spcPts val="2947"/>
              </a:lnSpc>
            </a:pPr>
            <a:r>
              <a:rPr lang="en-US" sz="2947" spc="-58">
                <a:solidFill>
                  <a:srgbClr val="FFFFFF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                if (roll &gt;= 1 &amp;&amp; roll &lt;= totalStudents) {</a:t>
            </a:r>
          </a:p>
          <a:p>
            <a:pPr algn="l">
              <a:lnSpc>
                <a:spcPts val="2947"/>
              </a:lnSpc>
            </a:pPr>
            <a:r>
              <a:rPr lang="en-US" sz="2947" spc="-58">
                <a:solidFill>
                  <a:srgbClr val="FFFFFF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                    printf("Enter new status (P/p or A/a): ");</a:t>
            </a:r>
          </a:p>
          <a:p>
            <a:pPr algn="l">
              <a:lnSpc>
                <a:spcPts val="2947"/>
              </a:lnSpc>
            </a:pPr>
            <a:r>
              <a:rPr lang="en-US" sz="2947" spc="-58">
                <a:solidFill>
                  <a:srgbClr val="FFFFFF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                    scanf(" %c", &amp;status);</a:t>
            </a:r>
          </a:p>
          <a:p>
            <a:pPr algn="l">
              <a:lnSpc>
                <a:spcPts val="2947"/>
              </a:lnSpc>
            </a:pPr>
            <a:r>
              <a:rPr lang="en-US" sz="2947" spc="-58">
                <a:solidFill>
                  <a:srgbClr val="FFFFFF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                    markAttendance(roll, status);</a:t>
            </a:r>
          </a:p>
          <a:p>
            <a:pPr algn="l">
              <a:lnSpc>
                <a:spcPts val="2947"/>
              </a:lnSpc>
            </a:pPr>
            <a:r>
              <a:rPr lang="en-US" sz="2947" spc="-58">
                <a:solidFill>
                  <a:srgbClr val="FFFFFF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                    printf("Attendance updated for Roll %d.\n", roll);</a:t>
            </a:r>
          </a:p>
          <a:p>
            <a:pPr algn="l">
              <a:lnSpc>
                <a:spcPts val="2947"/>
              </a:lnSpc>
            </a:pPr>
            <a:r>
              <a:rPr lang="en-US" sz="2947" spc="-58">
                <a:solidFill>
                  <a:srgbClr val="FFFFFF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                } </a:t>
            </a:r>
          </a:p>
          <a:p>
            <a:pPr algn="l">
              <a:lnSpc>
                <a:spcPts val="2947"/>
              </a:lnSpc>
            </a:pPr>
            <a:r>
              <a:rPr lang="en-US" sz="2947" spc="-58">
                <a:solidFill>
                  <a:srgbClr val="FFFFFF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                else {</a:t>
            </a:r>
          </a:p>
          <a:p>
            <a:pPr algn="l">
              <a:lnSpc>
                <a:spcPts val="2947"/>
              </a:lnSpc>
            </a:pPr>
            <a:r>
              <a:rPr lang="en-US" sz="2947" spc="-58">
                <a:solidFill>
                  <a:srgbClr val="FFFFFF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                    printf("Invalid roll number!\n");</a:t>
            </a:r>
          </a:p>
          <a:p>
            <a:pPr algn="l">
              <a:lnSpc>
                <a:spcPts val="2947"/>
              </a:lnSpc>
            </a:pPr>
            <a:r>
              <a:rPr lang="en-US" sz="2947" spc="-58">
                <a:solidFill>
                  <a:srgbClr val="FFFFFF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                }</a:t>
            </a:r>
          </a:p>
          <a:p>
            <a:pPr algn="l">
              <a:lnSpc>
                <a:spcPts val="2947"/>
              </a:lnSpc>
            </a:pPr>
            <a:r>
              <a:rPr lang="en-US" sz="2947" spc="-58">
                <a:solidFill>
                  <a:srgbClr val="FFFFFF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                break;</a:t>
            </a:r>
          </a:p>
          <a:p>
            <a:pPr algn="l">
              <a:lnSpc>
                <a:spcPts val="2947"/>
              </a:lnSpc>
            </a:pPr>
            <a:r>
              <a:rPr lang="en-US" sz="2947" spc="-58">
                <a:solidFill>
                  <a:srgbClr val="FFFFFF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 case 6:</a:t>
            </a:r>
          </a:p>
          <a:p>
            <a:pPr algn="l">
              <a:lnSpc>
                <a:spcPts val="2947"/>
              </a:lnSpc>
            </a:pPr>
            <a:r>
              <a:rPr lang="en-US" sz="2947" spc="-58">
                <a:solidFill>
                  <a:srgbClr val="FFFFFF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                printf("Exiting program...\n");</a:t>
            </a:r>
          </a:p>
          <a:p>
            <a:pPr algn="l">
              <a:lnSpc>
                <a:spcPts val="2947"/>
              </a:lnSpc>
            </a:pPr>
            <a:r>
              <a:rPr lang="en-US" sz="2947" spc="-58">
                <a:solidFill>
                  <a:srgbClr val="FFFFFF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                return 0;</a:t>
            </a:r>
          </a:p>
          <a:p>
            <a:pPr algn="l">
              <a:lnSpc>
                <a:spcPts val="2947"/>
              </a:lnSpc>
            </a:pPr>
            <a:r>
              <a:rPr lang="en-US" sz="2947" spc="-58">
                <a:solidFill>
                  <a:srgbClr val="FFFFFF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            default:</a:t>
            </a:r>
          </a:p>
          <a:p>
            <a:pPr algn="l">
              <a:lnSpc>
                <a:spcPts val="2947"/>
              </a:lnSpc>
            </a:pPr>
            <a:r>
              <a:rPr lang="en-US" sz="2947" spc="-58">
                <a:solidFill>
                  <a:srgbClr val="FFFFFF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                printf("Invalid option!\n");</a:t>
            </a:r>
          </a:p>
          <a:p>
            <a:pPr algn="l">
              <a:lnSpc>
                <a:spcPts val="2947"/>
              </a:lnSpc>
            </a:pPr>
            <a:r>
              <a:rPr lang="en-US" sz="2947" spc="-58">
                <a:solidFill>
                  <a:srgbClr val="FFFFFF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        }</a:t>
            </a:r>
          </a:p>
          <a:p>
            <a:pPr algn="l">
              <a:lnSpc>
                <a:spcPts val="2947"/>
              </a:lnSpc>
            </a:pPr>
            <a:r>
              <a:rPr lang="en-US" sz="2947" spc="-58">
                <a:solidFill>
                  <a:srgbClr val="FFFFFF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    }</a:t>
            </a:r>
          </a:p>
          <a:p>
            <a:pPr algn="l">
              <a:lnSpc>
                <a:spcPts val="2947"/>
              </a:lnSpc>
            </a:pPr>
            <a:r>
              <a:rPr lang="en-US" sz="2947" spc="-58">
                <a:solidFill>
                  <a:srgbClr val="FFFFFF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    return 0;</a:t>
            </a:r>
          </a:p>
          <a:p>
            <a:pPr algn="l">
              <a:lnSpc>
                <a:spcPts val="2947"/>
              </a:lnSpc>
              <a:spcBef>
                <a:spcPct val="0"/>
              </a:spcBef>
            </a:pPr>
            <a:r>
              <a:rPr lang="en-US" sz="2947" spc="-58">
                <a:solidFill>
                  <a:srgbClr val="FFFFFF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}</a:t>
            </a:r>
          </a:p>
        </p:txBody>
      </p:sp>
      <p:sp>
        <p:nvSpPr>
          <p:cNvPr name="AutoShape 4" id="4"/>
          <p:cNvSpPr/>
          <p:nvPr/>
        </p:nvSpPr>
        <p:spPr>
          <a:xfrm>
            <a:off x="8688271" y="769325"/>
            <a:ext cx="0" cy="8748351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621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13196" y="693254"/>
            <a:ext cx="17192434" cy="8926996"/>
            <a:chOff x="0" y="0"/>
            <a:chExt cx="4528048" cy="235114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528048" cy="2351143"/>
            </a:xfrm>
            <a:custGeom>
              <a:avLst/>
              <a:gdLst/>
              <a:ahLst/>
              <a:cxnLst/>
              <a:rect r="r" b="b" t="t" l="l"/>
              <a:pathLst>
                <a:path h="2351143" w="4528048">
                  <a:moveTo>
                    <a:pt x="18012" y="0"/>
                  </a:moveTo>
                  <a:lnTo>
                    <a:pt x="4510036" y="0"/>
                  </a:lnTo>
                  <a:cubicBezTo>
                    <a:pt x="4514813" y="0"/>
                    <a:pt x="4519395" y="1898"/>
                    <a:pt x="4522773" y="5276"/>
                  </a:cubicBezTo>
                  <a:cubicBezTo>
                    <a:pt x="4526151" y="8654"/>
                    <a:pt x="4528048" y="13235"/>
                    <a:pt x="4528048" y="18012"/>
                  </a:cubicBezTo>
                  <a:lnTo>
                    <a:pt x="4528048" y="2333130"/>
                  </a:lnTo>
                  <a:cubicBezTo>
                    <a:pt x="4528048" y="2343078"/>
                    <a:pt x="4519984" y="2351143"/>
                    <a:pt x="4510036" y="2351143"/>
                  </a:cubicBezTo>
                  <a:lnTo>
                    <a:pt x="18012" y="2351143"/>
                  </a:lnTo>
                  <a:cubicBezTo>
                    <a:pt x="8064" y="2351143"/>
                    <a:pt x="0" y="2343078"/>
                    <a:pt x="0" y="2333130"/>
                  </a:cubicBezTo>
                  <a:lnTo>
                    <a:pt x="0" y="18012"/>
                  </a:lnTo>
                  <a:cubicBezTo>
                    <a:pt x="0" y="8064"/>
                    <a:pt x="8064" y="0"/>
                    <a:pt x="18012" y="0"/>
                  </a:cubicBezTo>
                  <a:close/>
                </a:path>
              </a:pathLst>
            </a:custGeom>
            <a:solidFill>
              <a:srgbClr val="E94560"/>
            </a:solidFill>
            <a:ln w="2857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4528048" cy="237971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00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2076020" y="2311885"/>
            <a:ext cx="3626532" cy="6137209"/>
          </a:xfrm>
          <a:custGeom>
            <a:avLst/>
            <a:gdLst/>
            <a:ahLst/>
            <a:cxnLst/>
            <a:rect r="r" b="b" t="t" l="l"/>
            <a:pathLst>
              <a:path h="6137209" w="3626532">
                <a:moveTo>
                  <a:pt x="0" y="0"/>
                </a:moveTo>
                <a:lnTo>
                  <a:pt x="3626533" y="0"/>
                </a:lnTo>
                <a:lnTo>
                  <a:pt x="3626533" y="6137209"/>
                </a:lnTo>
                <a:lnTo>
                  <a:pt x="0" y="613720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6581220" y="2404662"/>
            <a:ext cx="3814844" cy="6044431"/>
          </a:xfrm>
          <a:custGeom>
            <a:avLst/>
            <a:gdLst/>
            <a:ahLst/>
            <a:cxnLst/>
            <a:rect r="r" b="b" t="t" l="l"/>
            <a:pathLst>
              <a:path h="6044431" w="3814844">
                <a:moveTo>
                  <a:pt x="0" y="0"/>
                </a:moveTo>
                <a:lnTo>
                  <a:pt x="3814844" y="0"/>
                </a:lnTo>
                <a:lnTo>
                  <a:pt x="3814844" y="6044432"/>
                </a:lnTo>
                <a:lnTo>
                  <a:pt x="0" y="604443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1446921" y="2828910"/>
            <a:ext cx="4897132" cy="3936601"/>
          </a:xfrm>
          <a:custGeom>
            <a:avLst/>
            <a:gdLst/>
            <a:ahLst/>
            <a:cxnLst/>
            <a:rect r="r" b="b" t="t" l="l"/>
            <a:pathLst>
              <a:path h="3936601" w="4897132">
                <a:moveTo>
                  <a:pt x="0" y="0"/>
                </a:moveTo>
                <a:lnTo>
                  <a:pt x="4897132" y="0"/>
                </a:lnTo>
                <a:lnTo>
                  <a:pt x="4897132" y="3936602"/>
                </a:lnTo>
                <a:lnTo>
                  <a:pt x="0" y="393660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994940" y="1240168"/>
            <a:ext cx="4707612" cy="7450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181"/>
              </a:lnSpc>
              <a:spcBef>
                <a:spcPct val="0"/>
              </a:spcBef>
            </a:pPr>
            <a:r>
              <a:rPr lang="en-US" sz="4415">
                <a:solidFill>
                  <a:srgbClr val="FFFFFF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SAMPLE OUTPUT :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621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66750" y="1172073"/>
            <a:ext cx="14537621" cy="5554469"/>
            <a:chOff x="0" y="0"/>
            <a:chExt cx="19383494" cy="7405959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5605861"/>
              <a:ext cx="19383494" cy="180009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65"/>
                </a:lnSpc>
              </a:pPr>
              <a:r>
                <a:rPr lang="en-US" sz="2819" spc="-56" strike="noStrike" u="none">
                  <a:solidFill>
                    <a:srgbClr val="FFFFFF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This section summarizes the </a:t>
              </a:r>
              <a:r>
                <a:rPr lang="en-US" b="true" sz="2819" spc="-56" strike="noStrike" u="none">
                  <a:solidFill>
                    <a:srgbClr val="FFFFFF"/>
                  </a:solidFill>
                  <a:latin typeface="TT Interphases Bold"/>
                  <a:ea typeface="TT Interphases Bold"/>
                  <a:cs typeface="TT Interphases Bold"/>
                  <a:sym typeface="TT Interphases Bold"/>
                </a:rPr>
                <a:t>key benefits</a:t>
              </a:r>
              <a:r>
                <a:rPr lang="en-US" sz="2819" spc="-56" strike="noStrike" u="none">
                  <a:solidFill>
                    <a:srgbClr val="FFFFFF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 of using bit manipulation in attendance management, emphasizing memory efficiency and speed, while encouraging further exploration of C++ bitwise operations.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0" y="190500"/>
              <a:ext cx="13017500" cy="347133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9874"/>
                </a:lnSpc>
                <a:spcBef>
                  <a:spcPct val="0"/>
                </a:spcBef>
              </a:pPr>
              <a:r>
                <a:rPr lang="en-US" sz="9874" spc="-197" strike="noStrike" u="none">
                  <a:solidFill>
                    <a:srgbClr val="FFFFFF"/>
                  </a:solidFill>
                  <a:latin typeface="Cooper BT Light"/>
                  <a:ea typeface="Cooper BT Light"/>
                  <a:cs typeface="Cooper BT Light"/>
                  <a:sym typeface="Cooper BT Light"/>
                </a:rPr>
                <a:t>Conclusion and Key Takeaways</a:t>
              </a: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5428144" y="6607510"/>
            <a:ext cx="3459016" cy="4461104"/>
          </a:xfrm>
          <a:custGeom>
            <a:avLst/>
            <a:gdLst/>
            <a:ahLst/>
            <a:cxnLst/>
            <a:rect r="r" b="b" t="t" l="l"/>
            <a:pathLst>
              <a:path h="4461104" w="3459016">
                <a:moveTo>
                  <a:pt x="0" y="0"/>
                </a:moveTo>
                <a:lnTo>
                  <a:pt x="3459015" y="0"/>
                </a:lnTo>
                <a:lnTo>
                  <a:pt x="3459015" y="4461105"/>
                </a:lnTo>
                <a:lnTo>
                  <a:pt x="0" y="446110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F346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102596" y="0"/>
            <a:ext cx="8185404" cy="10287000"/>
            <a:chOff x="0" y="0"/>
            <a:chExt cx="2155827" cy="27093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55827" cy="2709333"/>
            </a:xfrm>
            <a:custGeom>
              <a:avLst/>
              <a:gdLst/>
              <a:ahLst/>
              <a:cxnLst/>
              <a:rect r="r" b="b" t="t" l="l"/>
              <a:pathLst>
                <a:path h="2709333" w="2155827">
                  <a:moveTo>
                    <a:pt x="0" y="0"/>
                  </a:moveTo>
                  <a:lnTo>
                    <a:pt x="2155827" y="0"/>
                  </a:lnTo>
                  <a:lnTo>
                    <a:pt x="2155827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E9456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2155827" cy="27379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0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0708180" y="666750"/>
            <a:ext cx="6947741" cy="8953500"/>
            <a:chOff x="0" y="0"/>
            <a:chExt cx="812800" cy="104744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1047449"/>
            </a:xfrm>
            <a:custGeom>
              <a:avLst/>
              <a:gdLst/>
              <a:ahLst/>
              <a:cxnLst/>
              <a:rect r="r" b="b" t="t" l="l"/>
              <a:pathLst>
                <a:path h="1047449" w="812800">
                  <a:moveTo>
                    <a:pt x="44572" y="0"/>
                  </a:moveTo>
                  <a:lnTo>
                    <a:pt x="768228" y="0"/>
                  </a:lnTo>
                  <a:cubicBezTo>
                    <a:pt x="792844" y="0"/>
                    <a:pt x="812800" y="19956"/>
                    <a:pt x="812800" y="44572"/>
                  </a:cubicBezTo>
                  <a:lnTo>
                    <a:pt x="812800" y="1002877"/>
                  </a:lnTo>
                  <a:cubicBezTo>
                    <a:pt x="812800" y="1027493"/>
                    <a:pt x="792844" y="1047449"/>
                    <a:pt x="768228" y="1047449"/>
                  </a:cubicBezTo>
                  <a:lnTo>
                    <a:pt x="44572" y="1047449"/>
                  </a:lnTo>
                  <a:cubicBezTo>
                    <a:pt x="19956" y="1047449"/>
                    <a:pt x="0" y="1027493"/>
                    <a:pt x="0" y="1002877"/>
                  </a:cubicBezTo>
                  <a:lnTo>
                    <a:pt x="0" y="44572"/>
                  </a:lnTo>
                  <a:cubicBezTo>
                    <a:pt x="0" y="19956"/>
                    <a:pt x="19956" y="0"/>
                    <a:pt x="44572" y="0"/>
                  </a:cubicBezTo>
                  <a:close/>
                </a:path>
              </a:pathLst>
            </a:custGeom>
            <a:blipFill>
              <a:blip r:embed="rId2"/>
              <a:stretch>
                <a:fillRect l="0" t="-306" r="0" b="-306"/>
              </a:stretch>
            </a:blipFill>
          </p:spPr>
        </p:sp>
      </p:grpSp>
      <p:sp>
        <p:nvSpPr>
          <p:cNvPr name="TextBox 7" id="7"/>
          <p:cNvSpPr txBox="true"/>
          <p:nvPr/>
        </p:nvSpPr>
        <p:spPr>
          <a:xfrm rot="0">
            <a:off x="1028700" y="4659314"/>
            <a:ext cx="8324850" cy="11302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499"/>
              </a:lnSpc>
              <a:spcBef>
                <a:spcPct val="0"/>
              </a:spcBef>
            </a:pPr>
            <a:r>
              <a:rPr lang="en-US" sz="8499" spc="-169" strike="noStrike" u="none">
                <a:solidFill>
                  <a:srgbClr val="FFFFFF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Thank you!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10708180" y="9066"/>
            <a:ext cx="1438275" cy="1315368"/>
          </a:xfrm>
          <a:custGeom>
            <a:avLst/>
            <a:gdLst/>
            <a:ahLst/>
            <a:cxnLst/>
            <a:rect r="r" b="b" t="t" l="l"/>
            <a:pathLst>
              <a:path h="1315368" w="1438275">
                <a:moveTo>
                  <a:pt x="0" y="0"/>
                </a:moveTo>
                <a:lnTo>
                  <a:pt x="1438275" y="0"/>
                </a:lnTo>
                <a:lnTo>
                  <a:pt x="1438275" y="1315368"/>
                </a:lnTo>
                <a:lnTo>
                  <a:pt x="0" y="131536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description>Presentation - Student Attendance Management</dc:description>
  <dc:identifier>DAG6RR-x_HU</dc:identifier>
  <dcterms:modified xsi:type="dcterms:W3CDTF">2011-08-01T06:04:30Z</dcterms:modified>
  <cp:revision>1</cp:revision>
  <dc:title>Presentation - Student Attendance Management</dc:title>
</cp:coreProperties>
</file>